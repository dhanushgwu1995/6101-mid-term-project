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3.xml" ContentType="application/vnd.openxmlformats-officedocument.themeOverr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4.xml" ContentType="application/vnd.openxmlformats-officedocument.themeOverr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5.xml" ContentType="application/vnd.openxmlformats-officedocument.themeOverr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heme/themeOverride6.xml" ContentType="application/vnd.openxmlformats-officedocument.themeOverride+xml"/>
  <Override PartName="/ppt/notesSlides/notesSlide10.xml" ContentType="application/vnd.openxmlformats-officedocument.presentationml.notesSlide+xml"/>
  <Override PartName="/ppt/theme/themeOverride7.xml" ContentType="application/vnd.openxmlformats-officedocument.themeOverride+xml"/>
  <Override PartName="/ppt/notesSlides/notesSlide11.xml" ContentType="application/vnd.openxmlformats-officedocument.presentationml.notesSlide+xml"/>
  <Override PartName="/ppt/theme/themeOverride8.xml" ContentType="application/vnd.openxmlformats-officedocument.themeOverride+xml"/>
  <Override PartName="/ppt/notesSlides/notesSlide12.xml" ContentType="application/vnd.openxmlformats-officedocument.presentationml.notesSlide+xml"/>
  <Override PartName="/ppt/theme/themeOverride9.xml" ContentType="application/vnd.openxmlformats-officedocument.themeOverride+xml"/>
  <Override PartName="/ppt/notesSlides/notesSlide13.xml" ContentType="application/vnd.openxmlformats-officedocument.presentationml.notesSlide+xml"/>
  <Override PartName="/ppt/theme/themeOverride10.xml" ContentType="application/vnd.openxmlformats-officedocument.themeOverride+xml"/>
  <Override PartName="/ppt/notesSlides/notesSlide14.xml" ContentType="application/vnd.openxmlformats-officedocument.presentationml.notesSlide+xml"/>
  <Override PartName="/ppt/theme/themeOverride11.xml" ContentType="application/vnd.openxmlformats-officedocument.themeOverr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256" r:id="rId5"/>
    <p:sldId id="319" r:id="rId6"/>
    <p:sldId id="300" r:id="rId7"/>
    <p:sldId id="293" r:id="rId8"/>
    <p:sldId id="301" r:id="rId9"/>
    <p:sldId id="318" r:id="rId10"/>
    <p:sldId id="296" r:id="rId11"/>
    <p:sldId id="298" r:id="rId12"/>
    <p:sldId id="313" r:id="rId13"/>
    <p:sldId id="306" r:id="rId14"/>
    <p:sldId id="314" r:id="rId15"/>
    <p:sldId id="303" r:id="rId16"/>
    <p:sldId id="315" r:id="rId17"/>
    <p:sldId id="316" r:id="rId18"/>
    <p:sldId id="31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0E3"/>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204" autoAdjust="0"/>
  </p:normalViewPr>
  <p:slideViewPr>
    <p:cSldViewPr snapToGrid="0">
      <p:cViewPr>
        <p:scale>
          <a:sx n="76" d="100"/>
          <a:sy n="76" d="100"/>
        </p:scale>
        <p:origin x="946" y="72"/>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204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diagrams/_rels/data1.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_rels/data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svg"/><Relationship Id="rId7" Type="http://schemas.openxmlformats.org/officeDocument/2006/relationships/image" Target="../media/image46.svg"/><Relationship Id="rId2" Type="http://schemas.openxmlformats.org/officeDocument/2006/relationships/image" Target="../media/image41.png"/><Relationship Id="rId1" Type="http://schemas.openxmlformats.org/officeDocument/2006/relationships/hyperlink" Target="https://www.cdc.gov/brfss/annual_data/annual_2024.html." TargetMode="Externa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 Id="rId9" Type="http://schemas.openxmlformats.org/officeDocument/2006/relationships/image" Target="../media/image48.svg"/></Relationships>
</file>

<file path=ppt/diagrams/_rels/data5.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10" Type="http://schemas.openxmlformats.org/officeDocument/2006/relationships/image" Target="../media/image58.svg"/><Relationship Id="rId4" Type="http://schemas.openxmlformats.org/officeDocument/2006/relationships/image" Target="../media/image52.svg"/><Relationship Id="rId9" Type="http://schemas.openxmlformats.org/officeDocument/2006/relationships/image" Target="../media/image5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_rels/drawing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hyperlink" Target="https://www.cdc.gov/brfss/annual_data/annual_2024.html." TargetMode="External"/><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 Id="rId9" Type="http://schemas.openxmlformats.org/officeDocument/2006/relationships/image" Target="../media/image4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10" Type="http://schemas.openxmlformats.org/officeDocument/2006/relationships/image" Target="../media/image58.svg"/><Relationship Id="rId4" Type="http://schemas.openxmlformats.org/officeDocument/2006/relationships/image" Target="../media/image52.svg"/><Relationship Id="rId9" Type="http://schemas.openxmlformats.org/officeDocument/2006/relationships/image" Target="../media/image5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F44777-C1C8-40C3-9BB1-1051BE44DA49}"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5EDDC125-FA53-44AA-B765-C14CB64FE0BC}">
      <dgm:prSet/>
      <dgm:spPr/>
      <dgm:t>
        <a:bodyPr/>
        <a:lstStyle/>
        <a:p>
          <a:pPr>
            <a:lnSpc>
              <a:spcPct val="100000"/>
            </a:lnSpc>
            <a:defRPr cap="all"/>
          </a:pPr>
          <a:r>
            <a:rPr lang="en-US" b="1" u="none" dirty="0">
              <a:solidFill>
                <a:schemeClr val="tx1"/>
              </a:solidFill>
            </a:rPr>
            <a:t>Introduction</a:t>
          </a:r>
        </a:p>
      </dgm:t>
    </dgm:pt>
    <dgm:pt modelId="{311585A7-86CE-4C66-8AC8-D4D02399A4E6}" type="parTrans" cxnId="{224A4F20-1584-4414-8F51-4F4E561C412C}">
      <dgm:prSet/>
      <dgm:spPr/>
      <dgm:t>
        <a:bodyPr/>
        <a:lstStyle/>
        <a:p>
          <a:endParaRPr lang="en-US"/>
        </a:p>
      </dgm:t>
    </dgm:pt>
    <dgm:pt modelId="{BF7F9B0B-9F1D-4716-9AE5-BF4A242B4843}" type="sibTrans" cxnId="{224A4F20-1584-4414-8F51-4F4E561C412C}">
      <dgm:prSet/>
      <dgm:spPr/>
      <dgm:t>
        <a:bodyPr/>
        <a:lstStyle/>
        <a:p>
          <a:endParaRPr lang="en-US"/>
        </a:p>
      </dgm:t>
    </dgm:pt>
    <dgm:pt modelId="{F3BDD5AB-8B97-4F41-99A3-0A9F04747F0B}">
      <dgm:prSet/>
      <dgm:spPr/>
      <dgm:t>
        <a:bodyPr/>
        <a:lstStyle/>
        <a:p>
          <a:pPr>
            <a:lnSpc>
              <a:spcPct val="100000"/>
            </a:lnSpc>
            <a:defRPr cap="all"/>
          </a:pPr>
          <a:r>
            <a:rPr lang="en-US" b="1" u="none">
              <a:solidFill>
                <a:schemeClr val="tx1"/>
              </a:solidFill>
            </a:rPr>
            <a:t>Workflow process</a:t>
          </a:r>
        </a:p>
      </dgm:t>
    </dgm:pt>
    <dgm:pt modelId="{F7B2D793-F85E-4C97-BDF4-6B79FE7A26D3}" type="parTrans" cxnId="{376356B2-A8F1-437F-8D30-C57252FAAFAD}">
      <dgm:prSet/>
      <dgm:spPr/>
      <dgm:t>
        <a:bodyPr/>
        <a:lstStyle/>
        <a:p>
          <a:endParaRPr lang="en-US"/>
        </a:p>
      </dgm:t>
    </dgm:pt>
    <dgm:pt modelId="{8124F44C-A7E2-44B6-8777-F14D551ED248}" type="sibTrans" cxnId="{376356B2-A8F1-437F-8D30-C57252FAAFAD}">
      <dgm:prSet/>
      <dgm:spPr/>
      <dgm:t>
        <a:bodyPr/>
        <a:lstStyle/>
        <a:p>
          <a:endParaRPr lang="en-US"/>
        </a:p>
      </dgm:t>
    </dgm:pt>
    <dgm:pt modelId="{5C8B8490-8C1B-47D8-AB4E-B1EEEB393DBA}">
      <dgm:prSet/>
      <dgm:spPr/>
      <dgm:t>
        <a:bodyPr/>
        <a:lstStyle/>
        <a:p>
          <a:pPr>
            <a:lnSpc>
              <a:spcPct val="100000"/>
            </a:lnSpc>
            <a:defRPr cap="all"/>
          </a:pPr>
          <a:r>
            <a:rPr lang="en-US" b="1" u="none">
              <a:solidFill>
                <a:schemeClr val="tx1"/>
              </a:solidFill>
            </a:rPr>
            <a:t>Data Overview</a:t>
          </a:r>
        </a:p>
      </dgm:t>
    </dgm:pt>
    <dgm:pt modelId="{E4CD12E4-525F-4B34-8269-36A71D900625}" type="parTrans" cxnId="{F5952C5D-07A9-40BA-AA48-101E332CBE5B}">
      <dgm:prSet/>
      <dgm:spPr/>
      <dgm:t>
        <a:bodyPr/>
        <a:lstStyle/>
        <a:p>
          <a:endParaRPr lang="en-US"/>
        </a:p>
      </dgm:t>
    </dgm:pt>
    <dgm:pt modelId="{044C2F60-D7A7-4935-93CD-4C29CE85B617}" type="sibTrans" cxnId="{F5952C5D-07A9-40BA-AA48-101E332CBE5B}">
      <dgm:prSet/>
      <dgm:spPr/>
      <dgm:t>
        <a:bodyPr/>
        <a:lstStyle/>
        <a:p>
          <a:endParaRPr lang="en-US"/>
        </a:p>
      </dgm:t>
    </dgm:pt>
    <dgm:pt modelId="{B0181575-2AF5-4837-88D0-7A22FE8CF29D}">
      <dgm:prSet/>
      <dgm:spPr/>
      <dgm:t>
        <a:bodyPr/>
        <a:lstStyle/>
        <a:p>
          <a:pPr>
            <a:lnSpc>
              <a:spcPct val="100000"/>
            </a:lnSpc>
            <a:defRPr cap="all"/>
          </a:pPr>
          <a:r>
            <a:rPr lang="en-US" b="1" u="none">
              <a:solidFill>
                <a:schemeClr val="tx1"/>
              </a:solidFill>
            </a:rPr>
            <a:t>SMART QUESTION</a:t>
          </a:r>
        </a:p>
      </dgm:t>
    </dgm:pt>
    <dgm:pt modelId="{E68B6DCA-EA1F-4EA0-88BA-91FF12D8E989}" type="parTrans" cxnId="{7BAC2786-1529-491C-A8FA-379285FFF464}">
      <dgm:prSet/>
      <dgm:spPr/>
      <dgm:t>
        <a:bodyPr/>
        <a:lstStyle/>
        <a:p>
          <a:endParaRPr lang="en-US"/>
        </a:p>
      </dgm:t>
    </dgm:pt>
    <dgm:pt modelId="{F21F5807-3180-4EA2-A0B6-33966D24B2FA}" type="sibTrans" cxnId="{7BAC2786-1529-491C-A8FA-379285FFF464}">
      <dgm:prSet/>
      <dgm:spPr/>
      <dgm:t>
        <a:bodyPr/>
        <a:lstStyle/>
        <a:p>
          <a:endParaRPr lang="en-US"/>
        </a:p>
      </dgm:t>
    </dgm:pt>
    <dgm:pt modelId="{FC43DD59-FEEE-4CFE-9BEF-DC0D39DDFAEF}">
      <dgm:prSet/>
      <dgm:spPr/>
      <dgm:t>
        <a:bodyPr/>
        <a:lstStyle/>
        <a:p>
          <a:pPr>
            <a:lnSpc>
              <a:spcPct val="100000"/>
            </a:lnSpc>
            <a:defRPr cap="all"/>
          </a:pPr>
          <a:r>
            <a:rPr lang="en-US" b="1" u="none">
              <a:solidFill>
                <a:schemeClr val="tx1"/>
              </a:solidFill>
            </a:rPr>
            <a:t>Conclusion</a:t>
          </a:r>
        </a:p>
      </dgm:t>
    </dgm:pt>
    <dgm:pt modelId="{162255FB-B871-45E7-944E-74F546F68C60}" type="parTrans" cxnId="{04D25587-0479-4B11-A124-E161ACBBB034}">
      <dgm:prSet/>
      <dgm:spPr/>
      <dgm:t>
        <a:bodyPr/>
        <a:lstStyle/>
        <a:p>
          <a:endParaRPr lang="en-US"/>
        </a:p>
      </dgm:t>
    </dgm:pt>
    <dgm:pt modelId="{E6987B89-3BB9-47B9-907C-90FC83EB806B}" type="sibTrans" cxnId="{04D25587-0479-4B11-A124-E161ACBBB034}">
      <dgm:prSet/>
      <dgm:spPr/>
      <dgm:t>
        <a:bodyPr/>
        <a:lstStyle/>
        <a:p>
          <a:endParaRPr lang="en-US"/>
        </a:p>
      </dgm:t>
    </dgm:pt>
    <dgm:pt modelId="{257B4DC6-E135-436C-B6D2-477A5448970C}">
      <dgm:prSet/>
      <dgm:spPr/>
      <dgm:t>
        <a:bodyPr/>
        <a:lstStyle/>
        <a:p>
          <a:pPr>
            <a:lnSpc>
              <a:spcPct val="100000"/>
            </a:lnSpc>
            <a:defRPr cap="all"/>
          </a:pPr>
          <a:r>
            <a:rPr lang="en-US" b="1" u="none">
              <a:solidFill>
                <a:schemeClr val="tx1"/>
              </a:solidFill>
            </a:rPr>
            <a:t>Analysis test</a:t>
          </a:r>
        </a:p>
      </dgm:t>
    </dgm:pt>
    <dgm:pt modelId="{AA320821-62FE-465F-B9F8-CB0BE2F4FF0F}" type="parTrans" cxnId="{0313F610-94A9-4482-840C-AFD5C79647BE}">
      <dgm:prSet/>
      <dgm:spPr/>
      <dgm:t>
        <a:bodyPr/>
        <a:lstStyle/>
        <a:p>
          <a:endParaRPr lang="en-IN"/>
        </a:p>
      </dgm:t>
    </dgm:pt>
    <dgm:pt modelId="{02BD16A9-F074-465F-91B9-1A2D78B95AA9}" type="sibTrans" cxnId="{0313F610-94A9-4482-840C-AFD5C79647BE}">
      <dgm:prSet/>
      <dgm:spPr/>
      <dgm:t>
        <a:bodyPr/>
        <a:lstStyle/>
        <a:p>
          <a:endParaRPr lang="en-IN"/>
        </a:p>
      </dgm:t>
    </dgm:pt>
    <dgm:pt modelId="{4A2CB8A1-5B18-4AC0-93AF-F77513019641}" type="pres">
      <dgm:prSet presAssocID="{C3F44777-C1C8-40C3-9BB1-1051BE44DA49}" presName="root" presStyleCnt="0">
        <dgm:presLayoutVars>
          <dgm:dir/>
          <dgm:resizeHandles val="exact"/>
        </dgm:presLayoutVars>
      </dgm:prSet>
      <dgm:spPr/>
    </dgm:pt>
    <dgm:pt modelId="{08AB6D1A-4A98-4CDC-BAB9-07E89AAA1AD8}" type="pres">
      <dgm:prSet presAssocID="{5EDDC125-FA53-44AA-B765-C14CB64FE0BC}" presName="compNode" presStyleCnt="0"/>
      <dgm:spPr/>
    </dgm:pt>
    <dgm:pt modelId="{31D6A78C-DBE1-4203-8EE5-9CA4AE436FC2}" type="pres">
      <dgm:prSet presAssocID="{5EDDC125-FA53-44AA-B765-C14CB64FE0BC}" presName="iconBgRect" presStyleLbl="bgShp" presStyleIdx="0" presStyleCnt="6"/>
      <dgm:spPr/>
    </dgm:pt>
    <dgm:pt modelId="{98A25054-D274-4684-8068-7ECBC9141ED3}" type="pres">
      <dgm:prSet presAssocID="{5EDDC125-FA53-44AA-B765-C14CB64FE0B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8C8239BA-6718-464B-9875-B323FC2F9EED}" type="pres">
      <dgm:prSet presAssocID="{5EDDC125-FA53-44AA-B765-C14CB64FE0BC}" presName="spaceRect" presStyleCnt="0"/>
      <dgm:spPr/>
    </dgm:pt>
    <dgm:pt modelId="{05F04FA3-1618-4611-90A7-0CD03C3D5134}" type="pres">
      <dgm:prSet presAssocID="{5EDDC125-FA53-44AA-B765-C14CB64FE0BC}" presName="textRect" presStyleLbl="revTx" presStyleIdx="0" presStyleCnt="6">
        <dgm:presLayoutVars>
          <dgm:chMax val="1"/>
          <dgm:chPref val="1"/>
        </dgm:presLayoutVars>
      </dgm:prSet>
      <dgm:spPr/>
    </dgm:pt>
    <dgm:pt modelId="{BEDA18BE-0888-4681-899E-C911C7877971}" type="pres">
      <dgm:prSet presAssocID="{BF7F9B0B-9F1D-4716-9AE5-BF4A242B4843}" presName="sibTrans" presStyleCnt="0"/>
      <dgm:spPr/>
    </dgm:pt>
    <dgm:pt modelId="{7FFD087F-BCCB-47B4-9D7F-332073B334BA}" type="pres">
      <dgm:prSet presAssocID="{F3BDD5AB-8B97-4F41-99A3-0A9F04747F0B}" presName="compNode" presStyleCnt="0"/>
      <dgm:spPr/>
    </dgm:pt>
    <dgm:pt modelId="{BAA2AC98-07B4-4482-AC2D-B8D4B9B492CE}" type="pres">
      <dgm:prSet presAssocID="{F3BDD5AB-8B97-4F41-99A3-0A9F04747F0B}" presName="iconBgRect" presStyleLbl="bgShp" presStyleIdx="1" presStyleCnt="6"/>
      <dgm:spPr/>
    </dgm:pt>
    <dgm:pt modelId="{76BE55BE-256F-4262-8CB6-72E54C3D4C18}" type="pres">
      <dgm:prSet presAssocID="{F3BDD5AB-8B97-4F41-99A3-0A9F04747F0B}" presName="iconRect" presStyleLbl="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Arrow circle with solid fill"/>
        </a:ext>
      </dgm:extLst>
    </dgm:pt>
    <dgm:pt modelId="{DC9CEC8D-4B40-4980-93D5-E4869C92FBF5}" type="pres">
      <dgm:prSet presAssocID="{F3BDD5AB-8B97-4F41-99A3-0A9F04747F0B}" presName="spaceRect" presStyleCnt="0"/>
      <dgm:spPr/>
    </dgm:pt>
    <dgm:pt modelId="{E1636535-90BC-40F3-A0B6-BCC8BC1EB09B}" type="pres">
      <dgm:prSet presAssocID="{F3BDD5AB-8B97-4F41-99A3-0A9F04747F0B}" presName="textRect" presStyleLbl="revTx" presStyleIdx="1" presStyleCnt="6">
        <dgm:presLayoutVars>
          <dgm:chMax val="1"/>
          <dgm:chPref val="1"/>
        </dgm:presLayoutVars>
      </dgm:prSet>
      <dgm:spPr/>
    </dgm:pt>
    <dgm:pt modelId="{4D391806-D87B-4F45-9EE3-CFAEF8F8ED92}" type="pres">
      <dgm:prSet presAssocID="{8124F44C-A7E2-44B6-8777-F14D551ED248}" presName="sibTrans" presStyleCnt="0"/>
      <dgm:spPr/>
    </dgm:pt>
    <dgm:pt modelId="{C41DB346-01C3-4795-A2D2-563810B7384C}" type="pres">
      <dgm:prSet presAssocID="{5C8B8490-8C1B-47D8-AB4E-B1EEEB393DBA}" presName="compNode" presStyleCnt="0"/>
      <dgm:spPr/>
    </dgm:pt>
    <dgm:pt modelId="{55044F2C-83D4-479B-9557-B7435CF352B2}" type="pres">
      <dgm:prSet presAssocID="{5C8B8490-8C1B-47D8-AB4E-B1EEEB393DBA}" presName="iconBgRect" presStyleLbl="bgShp" presStyleIdx="2" presStyleCnt="6"/>
      <dgm:spPr/>
    </dgm:pt>
    <dgm:pt modelId="{C6DA3EEB-2959-44FE-AD24-0032A2D9D9D0}" type="pres">
      <dgm:prSet presAssocID="{5C8B8490-8C1B-47D8-AB4E-B1EEEB393DBA}" presName="iconRect" presStyleLbl="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Research with solid fill"/>
        </a:ext>
      </dgm:extLst>
    </dgm:pt>
    <dgm:pt modelId="{F7487AB8-4D48-44EB-8D48-8F374B786016}" type="pres">
      <dgm:prSet presAssocID="{5C8B8490-8C1B-47D8-AB4E-B1EEEB393DBA}" presName="spaceRect" presStyleCnt="0"/>
      <dgm:spPr/>
    </dgm:pt>
    <dgm:pt modelId="{DCED6147-35CE-449D-A814-9D95814B85CB}" type="pres">
      <dgm:prSet presAssocID="{5C8B8490-8C1B-47D8-AB4E-B1EEEB393DBA}" presName="textRect" presStyleLbl="revTx" presStyleIdx="2" presStyleCnt="6">
        <dgm:presLayoutVars>
          <dgm:chMax val="1"/>
          <dgm:chPref val="1"/>
        </dgm:presLayoutVars>
      </dgm:prSet>
      <dgm:spPr/>
    </dgm:pt>
    <dgm:pt modelId="{33B0038D-302D-4808-9743-A504B36AE357}" type="pres">
      <dgm:prSet presAssocID="{044C2F60-D7A7-4935-93CD-4C29CE85B617}" presName="sibTrans" presStyleCnt="0"/>
      <dgm:spPr/>
    </dgm:pt>
    <dgm:pt modelId="{B48697A5-648A-40EC-93C5-A3D113F7AA9F}" type="pres">
      <dgm:prSet presAssocID="{B0181575-2AF5-4837-88D0-7A22FE8CF29D}" presName="compNode" presStyleCnt="0"/>
      <dgm:spPr/>
    </dgm:pt>
    <dgm:pt modelId="{909C6195-8C56-4A12-A143-A62E77D56B70}" type="pres">
      <dgm:prSet presAssocID="{B0181575-2AF5-4837-88D0-7A22FE8CF29D}" presName="iconBgRect" presStyleLbl="bgShp" presStyleIdx="3" presStyleCnt="6"/>
      <dgm:spPr/>
    </dgm:pt>
    <dgm:pt modelId="{4942AA94-8234-4AFC-B2E7-A8231EBC5D61}" type="pres">
      <dgm:prSet presAssocID="{B0181575-2AF5-4837-88D0-7A22FE8CF29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lp"/>
        </a:ext>
      </dgm:extLst>
    </dgm:pt>
    <dgm:pt modelId="{AFC66CF1-9CB7-4547-8290-B3FF1DFEC89D}" type="pres">
      <dgm:prSet presAssocID="{B0181575-2AF5-4837-88D0-7A22FE8CF29D}" presName="spaceRect" presStyleCnt="0"/>
      <dgm:spPr/>
    </dgm:pt>
    <dgm:pt modelId="{51C79D51-A329-4CEB-8FDB-A921E8D3AE65}" type="pres">
      <dgm:prSet presAssocID="{B0181575-2AF5-4837-88D0-7A22FE8CF29D}" presName="textRect" presStyleLbl="revTx" presStyleIdx="3" presStyleCnt="6">
        <dgm:presLayoutVars>
          <dgm:chMax val="1"/>
          <dgm:chPref val="1"/>
        </dgm:presLayoutVars>
      </dgm:prSet>
      <dgm:spPr/>
    </dgm:pt>
    <dgm:pt modelId="{DDCA3766-1D3F-47C8-82C9-BAD0EE53E9A3}" type="pres">
      <dgm:prSet presAssocID="{F21F5807-3180-4EA2-A0B6-33966D24B2FA}" presName="sibTrans" presStyleCnt="0"/>
      <dgm:spPr/>
    </dgm:pt>
    <dgm:pt modelId="{2776681D-9BE1-4585-8865-1E0F7AB6A0F4}" type="pres">
      <dgm:prSet presAssocID="{257B4DC6-E135-436C-B6D2-477A5448970C}" presName="compNode" presStyleCnt="0"/>
      <dgm:spPr/>
    </dgm:pt>
    <dgm:pt modelId="{C40AF3C9-04D7-41C8-AE6E-ECA421CE6CE0}" type="pres">
      <dgm:prSet presAssocID="{257B4DC6-E135-436C-B6D2-477A5448970C}" presName="iconBgRect" presStyleLbl="bgShp" presStyleIdx="4" presStyleCnt="6"/>
      <dgm:spPr/>
    </dgm:pt>
    <dgm:pt modelId="{62B3DC14-661D-42BF-AB45-F9FED1BE4A95}" type="pres">
      <dgm:prSet presAssocID="{257B4DC6-E135-436C-B6D2-477A5448970C}" presName="iconRect" presStyleLbl="nod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Statistics with solid fill"/>
        </a:ext>
      </dgm:extLst>
    </dgm:pt>
    <dgm:pt modelId="{72F9AA3D-1E15-441A-80ED-21E3D0F85705}" type="pres">
      <dgm:prSet presAssocID="{257B4DC6-E135-436C-B6D2-477A5448970C}" presName="spaceRect" presStyleCnt="0"/>
      <dgm:spPr/>
    </dgm:pt>
    <dgm:pt modelId="{9B208F2B-9E63-4AA0-8724-31157732C90B}" type="pres">
      <dgm:prSet presAssocID="{257B4DC6-E135-436C-B6D2-477A5448970C}" presName="textRect" presStyleLbl="revTx" presStyleIdx="4" presStyleCnt="6">
        <dgm:presLayoutVars>
          <dgm:chMax val="1"/>
          <dgm:chPref val="1"/>
        </dgm:presLayoutVars>
      </dgm:prSet>
      <dgm:spPr/>
    </dgm:pt>
    <dgm:pt modelId="{061A5669-0375-4D4C-A8FC-669D73D8BD73}" type="pres">
      <dgm:prSet presAssocID="{02BD16A9-F074-465F-91B9-1A2D78B95AA9}" presName="sibTrans" presStyleCnt="0"/>
      <dgm:spPr/>
    </dgm:pt>
    <dgm:pt modelId="{12853C35-039D-44EE-8453-6BF67B4A1297}" type="pres">
      <dgm:prSet presAssocID="{FC43DD59-FEEE-4CFE-9BEF-DC0D39DDFAEF}" presName="compNode" presStyleCnt="0"/>
      <dgm:spPr/>
    </dgm:pt>
    <dgm:pt modelId="{DA725F30-B103-4B49-9019-8ACC54FE079A}" type="pres">
      <dgm:prSet presAssocID="{FC43DD59-FEEE-4CFE-9BEF-DC0D39DDFAEF}" presName="iconBgRect" presStyleLbl="bgShp" presStyleIdx="5" presStyleCnt="6"/>
      <dgm:spPr/>
    </dgm:pt>
    <dgm:pt modelId="{AE15732E-3F6B-4EE5-A251-0DDA3BC7B294}" type="pres">
      <dgm:prSet presAssocID="{FC43DD59-FEEE-4CFE-9BEF-DC0D39DDFAE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vel"/>
        </a:ext>
      </dgm:extLst>
    </dgm:pt>
    <dgm:pt modelId="{ECB20E0C-63AF-4E48-AD5D-7FC2FBD604DC}" type="pres">
      <dgm:prSet presAssocID="{FC43DD59-FEEE-4CFE-9BEF-DC0D39DDFAEF}" presName="spaceRect" presStyleCnt="0"/>
      <dgm:spPr/>
    </dgm:pt>
    <dgm:pt modelId="{A6998A72-4481-4B3E-AFA5-CB7E79284DA0}" type="pres">
      <dgm:prSet presAssocID="{FC43DD59-FEEE-4CFE-9BEF-DC0D39DDFAEF}" presName="textRect" presStyleLbl="revTx" presStyleIdx="5" presStyleCnt="6">
        <dgm:presLayoutVars>
          <dgm:chMax val="1"/>
          <dgm:chPref val="1"/>
        </dgm:presLayoutVars>
      </dgm:prSet>
      <dgm:spPr/>
    </dgm:pt>
  </dgm:ptLst>
  <dgm:cxnLst>
    <dgm:cxn modelId="{05056806-B0F5-49DB-A4FF-0598D7094E98}" type="presOf" srcId="{C3F44777-C1C8-40C3-9BB1-1051BE44DA49}" destId="{4A2CB8A1-5B18-4AC0-93AF-F77513019641}" srcOrd="0" destOrd="0" presId="urn:microsoft.com/office/officeart/2018/5/layout/IconCircleLabelList"/>
    <dgm:cxn modelId="{0313F610-94A9-4482-840C-AFD5C79647BE}" srcId="{C3F44777-C1C8-40C3-9BB1-1051BE44DA49}" destId="{257B4DC6-E135-436C-B6D2-477A5448970C}" srcOrd="4" destOrd="0" parTransId="{AA320821-62FE-465F-B9F8-CB0BE2F4FF0F}" sibTransId="{02BD16A9-F074-465F-91B9-1A2D78B95AA9}"/>
    <dgm:cxn modelId="{224A4F20-1584-4414-8F51-4F4E561C412C}" srcId="{C3F44777-C1C8-40C3-9BB1-1051BE44DA49}" destId="{5EDDC125-FA53-44AA-B765-C14CB64FE0BC}" srcOrd="0" destOrd="0" parTransId="{311585A7-86CE-4C66-8AC8-D4D02399A4E6}" sibTransId="{BF7F9B0B-9F1D-4716-9AE5-BF4A242B4843}"/>
    <dgm:cxn modelId="{CFB60C36-06D8-47FB-AAA2-BE8701AC8BE4}" type="presOf" srcId="{F3BDD5AB-8B97-4F41-99A3-0A9F04747F0B}" destId="{E1636535-90BC-40F3-A0B6-BCC8BC1EB09B}" srcOrd="0" destOrd="0" presId="urn:microsoft.com/office/officeart/2018/5/layout/IconCircleLabelList"/>
    <dgm:cxn modelId="{F5952C5D-07A9-40BA-AA48-101E332CBE5B}" srcId="{C3F44777-C1C8-40C3-9BB1-1051BE44DA49}" destId="{5C8B8490-8C1B-47D8-AB4E-B1EEEB393DBA}" srcOrd="2" destOrd="0" parTransId="{E4CD12E4-525F-4B34-8269-36A71D900625}" sibTransId="{044C2F60-D7A7-4935-93CD-4C29CE85B617}"/>
    <dgm:cxn modelId="{70967466-BF29-4EF9-8C36-9AFF6C75B957}" type="presOf" srcId="{257B4DC6-E135-436C-B6D2-477A5448970C}" destId="{9B208F2B-9E63-4AA0-8724-31157732C90B}" srcOrd="0" destOrd="0" presId="urn:microsoft.com/office/officeart/2018/5/layout/IconCircleLabelList"/>
    <dgm:cxn modelId="{A0D98449-208C-47EC-9544-0B9B77773FAF}" type="presOf" srcId="{5C8B8490-8C1B-47D8-AB4E-B1EEEB393DBA}" destId="{DCED6147-35CE-449D-A814-9D95814B85CB}" srcOrd="0" destOrd="0" presId="urn:microsoft.com/office/officeart/2018/5/layout/IconCircleLabelList"/>
    <dgm:cxn modelId="{F9B01B72-0D4F-4181-976B-D6CFFE652258}" type="presOf" srcId="{FC43DD59-FEEE-4CFE-9BEF-DC0D39DDFAEF}" destId="{A6998A72-4481-4B3E-AFA5-CB7E79284DA0}" srcOrd="0" destOrd="0" presId="urn:microsoft.com/office/officeart/2018/5/layout/IconCircleLabelList"/>
    <dgm:cxn modelId="{8DB85F72-E151-4302-8EDB-FBB5A635C36E}" type="presOf" srcId="{5EDDC125-FA53-44AA-B765-C14CB64FE0BC}" destId="{05F04FA3-1618-4611-90A7-0CD03C3D5134}" srcOrd="0" destOrd="0" presId="urn:microsoft.com/office/officeart/2018/5/layout/IconCircleLabelList"/>
    <dgm:cxn modelId="{20E8B553-165B-4DAA-BA0E-A4EC8C30E716}" type="presOf" srcId="{B0181575-2AF5-4837-88D0-7A22FE8CF29D}" destId="{51C79D51-A329-4CEB-8FDB-A921E8D3AE65}" srcOrd="0" destOrd="0" presId="urn:microsoft.com/office/officeart/2018/5/layout/IconCircleLabelList"/>
    <dgm:cxn modelId="{7BAC2786-1529-491C-A8FA-379285FFF464}" srcId="{C3F44777-C1C8-40C3-9BB1-1051BE44DA49}" destId="{B0181575-2AF5-4837-88D0-7A22FE8CF29D}" srcOrd="3" destOrd="0" parTransId="{E68B6DCA-EA1F-4EA0-88BA-91FF12D8E989}" sibTransId="{F21F5807-3180-4EA2-A0B6-33966D24B2FA}"/>
    <dgm:cxn modelId="{04D25587-0479-4B11-A124-E161ACBBB034}" srcId="{C3F44777-C1C8-40C3-9BB1-1051BE44DA49}" destId="{FC43DD59-FEEE-4CFE-9BEF-DC0D39DDFAEF}" srcOrd="5" destOrd="0" parTransId="{162255FB-B871-45E7-944E-74F546F68C60}" sibTransId="{E6987B89-3BB9-47B9-907C-90FC83EB806B}"/>
    <dgm:cxn modelId="{376356B2-A8F1-437F-8D30-C57252FAAFAD}" srcId="{C3F44777-C1C8-40C3-9BB1-1051BE44DA49}" destId="{F3BDD5AB-8B97-4F41-99A3-0A9F04747F0B}" srcOrd="1" destOrd="0" parTransId="{F7B2D793-F85E-4C97-BDF4-6B79FE7A26D3}" sibTransId="{8124F44C-A7E2-44B6-8777-F14D551ED248}"/>
    <dgm:cxn modelId="{8F1F1A9F-BCAC-491C-931E-649795B2BCEA}" type="presParOf" srcId="{4A2CB8A1-5B18-4AC0-93AF-F77513019641}" destId="{08AB6D1A-4A98-4CDC-BAB9-07E89AAA1AD8}" srcOrd="0" destOrd="0" presId="urn:microsoft.com/office/officeart/2018/5/layout/IconCircleLabelList"/>
    <dgm:cxn modelId="{6AF60D2C-1775-4EBC-94FD-DAA303FC4D40}" type="presParOf" srcId="{08AB6D1A-4A98-4CDC-BAB9-07E89AAA1AD8}" destId="{31D6A78C-DBE1-4203-8EE5-9CA4AE436FC2}" srcOrd="0" destOrd="0" presId="urn:microsoft.com/office/officeart/2018/5/layout/IconCircleLabelList"/>
    <dgm:cxn modelId="{53AF5330-292A-4C5C-8077-02243F7881BE}" type="presParOf" srcId="{08AB6D1A-4A98-4CDC-BAB9-07E89AAA1AD8}" destId="{98A25054-D274-4684-8068-7ECBC9141ED3}" srcOrd="1" destOrd="0" presId="urn:microsoft.com/office/officeart/2018/5/layout/IconCircleLabelList"/>
    <dgm:cxn modelId="{D269DDEA-4190-4AFB-B469-978E8F7B44C2}" type="presParOf" srcId="{08AB6D1A-4A98-4CDC-BAB9-07E89AAA1AD8}" destId="{8C8239BA-6718-464B-9875-B323FC2F9EED}" srcOrd="2" destOrd="0" presId="urn:microsoft.com/office/officeart/2018/5/layout/IconCircleLabelList"/>
    <dgm:cxn modelId="{7C2C0FDD-8EFA-4E50-8C96-61FD4AF67C4B}" type="presParOf" srcId="{08AB6D1A-4A98-4CDC-BAB9-07E89AAA1AD8}" destId="{05F04FA3-1618-4611-90A7-0CD03C3D5134}" srcOrd="3" destOrd="0" presId="urn:microsoft.com/office/officeart/2018/5/layout/IconCircleLabelList"/>
    <dgm:cxn modelId="{64856836-B030-4147-8502-2CB217229BE5}" type="presParOf" srcId="{4A2CB8A1-5B18-4AC0-93AF-F77513019641}" destId="{BEDA18BE-0888-4681-899E-C911C7877971}" srcOrd="1" destOrd="0" presId="urn:microsoft.com/office/officeart/2018/5/layout/IconCircleLabelList"/>
    <dgm:cxn modelId="{AD215FB5-658C-4624-B1A2-BACBA324A595}" type="presParOf" srcId="{4A2CB8A1-5B18-4AC0-93AF-F77513019641}" destId="{7FFD087F-BCCB-47B4-9D7F-332073B334BA}" srcOrd="2" destOrd="0" presId="urn:microsoft.com/office/officeart/2018/5/layout/IconCircleLabelList"/>
    <dgm:cxn modelId="{95AB8529-BD54-4DF2-8BB4-A30FE2B00B9B}" type="presParOf" srcId="{7FFD087F-BCCB-47B4-9D7F-332073B334BA}" destId="{BAA2AC98-07B4-4482-AC2D-B8D4B9B492CE}" srcOrd="0" destOrd="0" presId="urn:microsoft.com/office/officeart/2018/5/layout/IconCircleLabelList"/>
    <dgm:cxn modelId="{5648B0C5-9045-4877-968F-10965E16A076}" type="presParOf" srcId="{7FFD087F-BCCB-47B4-9D7F-332073B334BA}" destId="{76BE55BE-256F-4262-8CB6-72E54C3D4C18}" srcOrd="1" destOrd="0" presId="urn:microsoft.com/office/officeart/2018/5/layout/IconCircleLabelList"/>
    <dgm:cxn modelId="{4594733D-5018-4C14-9A51-EB40D7C6A7F9}" type="presParOf" srcId="{7FFD087F-BCCB-47B4-9D7F-332073B334BA}" destId="{DC9CEC8D-4B40-4980-93D5-E4869C92FBF5}" srcOrd="2" destOrd="0" presId="urn:microsoft.com/office/officeart/2018/5/layout/IconCircleLabelList"/>
    <dgm:cxn modelId="{41AB23A6-6565-4545-B591-81CD44FDD6FE}" type="presParOf" srcId="{7FFD087F-BCCB-47B4-9D7F-332073B334BA}" destId="{E1636535-90BC-40F3-A0B6-BCC8BC1EB09B}" srcOrd="3" destOrd="0" presId="urn:microsoft.com/office/officeart/2018/5/layout/IconCircleLabelList"/>
    <dgm:cxn modelId="{673414C3-49E3-4B41-AF13-6A26C696E8A6}" type="presParOf" srcId="{4A2CB8A1-5B18-4AC0-93AF-F77513019641}" destId="{4D391806-D87B-4F45-9EE3-CFAEF8F8ED92}" srcOrd="3" destOrd="0" presId="urn:microsoft.com/office/officeart/2018/5/layout/IconCircleLabelList"/>
    <dgm:cxn modelId="{7C60CA30-7AEA-43D3-9535-F745E3BE1EA5}" type="presParOf" srcId="{4A2CB8A1-5B18-4AC0-93AF-F77513019641}" destId="{C41DB346-01C3-4795-A2D2-563810B7384C}" srcOrd="4" destOrd="0" presId="urn:microsoft.com/office/officeart/2018/5/layout/IconCircleLabelList"/>
    <dgm:cxn modelId="{75E9F55B-527E-4869-9FDE-936956301D2C}" type="presParOf" srcId="{C41DB346-01C3-4795-A2D2-563810B7384C}" destId="{55044F2C-83D4-479B-9557-B7435CF352B2}" srcOrd="0" destOrd="0" presId="urn:microsoft.com/office/officeart/2018/5/layout/IconCircleLabelList"/>
    <dgm:cxn modelId="{E488A098-F9CE-426E-9E91-E88A8F7AD448}" type="presParOf" srcId="{C41DB346-01C3-4795-A2D2-563810B7384C}" destId="{C6DA3EEB-2959-44FE-AD24-0032A2D9D9D0}" srcOrd="1" destOrd="0" presId="urn:microsoft.com/office/officeart/2018/5/layout/IconCircleLabelList"/>
    <dgm:cxn modelId="{97DD9BFD-D458-4D69-8EF0-79A4EC4D3BDF}" type="presParOf" srcId="{C41DB346-01C3-4795-A2D2-563810B7384C}" destId="{F7487AB8-4D48-44EB-8D48-8F374B786016}" srcOrd="2" destOrd="0" presId="urn:microsoft.com/office/officeart/2018/5/layout/IconCircleLabelList"/>
    <dgm:cxn modelId="{69BD0D2D-4615-41D2-869A-1298169688D2}" type="presParOf" srcId="{C41DB346-01C3-4795-A2D2-563810B7384C}" destId="{DCED6147-35CE-449D-A814-9D95814B85CB}" srcOrd="3" destOrd="0" presId="urn:microsoft.com/office/officeart/2018/5/layout/IconCircleLabelList"/>
    <dgm:cxn modelId="{8CB5978D-BF0F-4628-B06D-CCE23A200F0C}" type="presParOf" srcId="{4A2CB8A1-5B18-4AC0-93AF-F77513019641}" destId="{33B0038D-302D-4808-9743-A504B36AE357}" srcOrd="5" destOrd="0" presId="urn:microsoft.com/office/officeart/2018/5/layout/IconCircleLabelList"/>
    <dgm:cxn modelId="{0EFF0BB3-EC59-440C-8FE6-BC906B9636A2}" type="presParOf" srcId="{4A2CB8A1-5B18-4AC0-93AF-F77513019641}" destId="{B48697A5-648A-40EC-93C5-A3D113F7AA9F}" srcOrd="6" destOrd="0" presId="urn:microsoft.com/office/officeart/2018/5/layout/IconCircleLabelList"/>
    <dgm:cxn modelId="{EFB182D7-3ACB-415B-88D9-49E08C964E36}" type="presParOf" srcId="{B48697A5-648A-40EC-93C5-A3D113F7AA9F}" destId="{909C6195-8C56-4A12-A143-A62E77D56B70}" srcOrd="0" destOrd="0" presId="urn:microsoft.com/office/officeart/2018/5/layout/IconCircleLabelList"/>
    <dgm:cxn modelId="{D1E72F00-6B0B-452B-AFED-A7991B66E2EF}" type="presParOf" srcId="{B48697A5-648A-40EC-93C5-A3D113F7AA9F}" destId="{4942AA94-8234-4AFC-B2E7-A8231EBC5D61}" srcOrd="1" destOrd="0" presId="urn:microsoft.com/office/officeart/2018/5/layout/IconCircleLabelList"/>
    <dgm:cxn modelId="{2817590E-68C7-4977-8C4D-7FBCF6CDB640}" type="presParOf" srcId="{B48697A5-648A-40EC-93C5-A3D113F7AA9F}" destId="{AFC66CF1-9CB7-4547-8290-B3FF1DFEC89D}" srcOrd="2" destOrd="0" presId="urn:microsoft.com/office/officeart/2018/5/layout/IconCircleLabelList"/>
    <dgm:cxn modelId="{4B60A52B-7CDE-4DF7-8C3F-85322014CD47}" type="presParOf" srcId="{B48697A5-648A-40EC-93C5-A3D113F7AA9F}" destId="{51C79D51-A329-4CEB-8FDB-A921E8D3AE65}" srcOrd="3" destOrd="0" presId="urn:microsoft.com/office/officeart/2018/5/layout/IconCircleLabelList"/>
    <dgm:cxn modelId="{8CFE6BEE-524C-4B0E-A16B-589EEAD5279E}" type="presParOf" srcId="{4A2CB8A1-5B18-4AC0-93AF-F77513019641}" destId="{DDCA3766-1D3F-47C8-82C9-BAD0EE53E9A3}" srcOrd="7" destOrd="0" presId="urn:microsoft.com/office/officeart/2018/5/layout/IconCircleLabelList"/>
    <dgm:cxn modelId="{AC54FED3-C797-4BDF-B60F-9B16EFAC12A3}" type="presParOf" srcId="{4A2CB8A1-5B18-4AC0-93AF-F77513019641}" destId="{2776681D-9BE1-4585-8865-1E0F7AB6A0F4}" srcOrd="8" destOrd="0" presId="urn:microsoft.com/office/officeart/2018/5/layout/IconCircleLabelList"/>
    <dgm:cxn modelId="{50EDD947-214A-4848-B0DA-CEDDE8CAB55E}" type="presParOf" srcId="{2776681D-9BE1-4585-8865-1E0F7AB6A0F4}" destId="{C40AF3C9-04D7-41C8-AE6E-ECA421CE6CE0}" srcOrd="0" destOrd="0" presId="urn:microsoft.com/office/officeart/2018/5/layout/IconCircleLabelList"/>
    <dgm:cxn modelId="{271EBFF7-EBCB-417C-A2F4-A2E8684D9CBD}" type="presParOf" srcId="{2776681D-9BE1-4585-8865-1E0F7AB6A0F4}" destId="{62B3DC14-661D-42BF-AB45-F9FED1BE4A95}" srcOrd="1" destOrd="0" presId="urn:microsoft.com/office/officeart/2018/5/layout/IconCircleLabelList"/>
    <dgm:cxn modelId="{EC03C007-BFA6-475B-880A-5970B64B33CD}" type="presParOf" srcId="{2776681D-9BE1-4585-8865-1E0F7AB6A0F4}" destId="{72F9AA3D-1E15-441A-80ED-21E3D0F85705}" srcOrd="2" destOrd="0" presId="urn:microsoft.com/office/officeart/2018/5/layout/IconCircleLabelList"/>
    <dgm:cxn modelId="{A2BC590F-37C1-4E70-BFD2-DAB26E437A08}" type="presParOf" srcId="{2776681D-9BE1-4585-8865-1E0F7AB6A0F4}" destId="{9B208F2B-9E63-4AA0-8724-31157732C90B}" srcOrd="3" destOrd="0" presId="urn:microsoft.com/office/officeart/2018/5/layout/IconCircleLabelList"/>
    <dgm:cxn modelId="{697BB16F-0058-4CC8-8568-9F34414E5774}" type="presParOf" srcId="{4A2CB8A1-5B18-4AC0-93AF-F77513019641}" destId="{061A5669-0375-4D4C-A8FC-669D73D8BD73}" srcOrd="9" destOrd="0" presId="urn:microsoft.com/office/officeart/2018/5/layout/IconCircleLabelList"/>
    <dgm:cxn modelId="{111E2161-EAB4-4627-AF38-A8D06CE16F4F}" type="presParOf" srcId="{4A2CB8A1-5B18-4AC0-93AF-F77513019641}" destId="{12853C35-039D-44EE-8453-6BF67B4A1297}" srcOrd="10" destOrd="0" presId="urn:microsoft.com/office/officeart/2018/5/layout/IconCircleLabelList"/>
    <dgm:cxn modelId="{4525B5CB-2175-46C2-9C39-C0E0FEF92060}" type="presParOf" srcId="{12853C35-039D-44EE-8453-6BF67B4A1297}" destId="{DA725F30-B103-4B49-9019-8ACC54FE079A}" srcOrd="0" destOrd="0" presId="urn:microsoft.com/office/officeart/2018/5/layout/IconCircleLabelList"/>
    <dgm:cxn modelId="{9C70D171-2F96-44FE-A7B7-B1831BDAA6C1}" type="presParOf" srcId="{12853C35-039D-44EE-8453-6BF67B4A1297}" destId="{AE15732E-3F6B-4EE5-A251-0DDA3BC7B294}" srcOrd="1" destOrd="0" presId="urn:microsoft.com/office/officeart/2018/5/layout/IconCircleLabelList"/>
    <dgm:cxn modelId="{BC1B4D3A-06EC-4772-8CF7-3E9F01B13EA8}" type="presParOf" srcId="{12853C35-039D-44EE-8453-6BF67B4A1297}" destId="{ECB20E0C-63AF-4E48-AD5D-7FC2FBD604DC}" srcOrd="2" destOrd="0" presId="urn:microsoft.com/office/officeart/2018/5/layout/IconCircleLabelList"/>
    <dgm:cxn modelId="{7B99F639-9599-4B6B-8529-5213658EF135}" type="presParOf" srcId="{12853C35-039D-44EE-8453-6BF67B4A1297}" destId="{A6998A72-4481-4B3E-AFA5-CB7E79284DA0}"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4A02EE-A935-4994-A720-35A2C1F5673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F7FB74E-9550-47FB-B5BA-330A5D329747}">
      <dgm:prSet/>
      <dgm:spPr/>
      <dgm:t>
        <a:bodyPr/>
        <a:lstStyle/>
        <a:p>
          <a:pPr>
            <a:lnSpc>
              <a:spcPct val="100000"/>
            </a:lnSpc>
          </a:pPr>
          <a:r>
            <a:rPr lang="en-US" dirty="0"/>
            <a:t>This project investigates the relationship between lifestyle factors, health metrics, and the diagnosis of Coronary Heart Disease (CHD).</a:t>
          </a:r>
        </a:p>
      </dgm:t>
    </dgm:pt>
    <dgm:pt modelId="{B07C3572-9494-48EB-A919-BD3671AB7377}" type="parTrans" cxnId="{16DAD8DD-7F32-4EB7-AF72-DC888B8BAC07}">
      <dgm:prSet/>
      <dgm:spPr/>
      <dgm:t>
        <a:bodyPr/>
        <a:lstStyle/>
        <a:p>
          <a:endParaRPr lang="en-US"/>
        </a:p>
      </dgm:t>
    </dgm:pt>
    <dgm:pt modelId="{780B351D-463F-4C73-BDE7-60AE7AFB0EF3}" type="sibTrans" cxnId="{16DAD8DD-7F32-4EB7-AF72-DC888B8BAC07}">
      <dgm:prSet/>
      <dgm:spPr/>
      <dgm:t>
        <a:bodyPr/>
        <a:lstStyle/>
        <a:p>
          <a:endParaRPr lang="en-US"/>
        </a:p>
      </dgm:t>
    </dgm:pt>
    <dgm:pt modelId="{84D7ECF4-924A-408A-8242-4B82B09F1053}">
      <dgm:prSet/>
      <dgm:spPr/>
      <dgm:t>
        <a:bodyPr/>
        <a:lstStyle/>
        <a:p>
          <a:pPr>
            <a:lnSpc>
              <a:spcPct val="100000"/>
            </a:lnSpc>
          </a:pPr>
          <a:r>
            <a:rPr lang="en-US" dirty="0"/>
            <a:t>The analysis uses robust statistical methods, including T-tests, Chi-square tests, and ANOVA, to answer</a:t>
          </a:r>
          <a:r>
            <a:rPr lang="en-US" dirty="0">
              <a:latin typeface="Avenir Next LT Pro"/>
            </a:rPr>
            <a:t> SMART </a:t>
          </a:r>
          <a:r>
            <a:rPr lang="en-US" dirty="0"/>
            <a:t>questions.</a:t>
          </a:r>
        </a:p>
      </dgm:t>
    </dgm:pt>
    <dgm:pt modelId="{938BF010-6093-454D-8862-93B72EBDBF8C}" type="parTrans" cxnId="{8F46DB26-3457-45DE-B58B-46C2DD142213}">
      <dgm:prSet/>
      <dgm:spPr/>
      <dgm:t>
        <a:bodyPr/>
        <a:lstStyle/>
        <a:p>
          <a:endParaRPr lang="en-US"/>
        </a:p>
      </dgm:t>
    </dgm:pt>
    <dgm:pt modelId="{712A2398-0F21-4476-873A-B861C71ABC78}" type="sibTrans" cxnId="{8F46DB26-3457-45DE-B58B-46C2DD142213}">
      <dgm:prSet/>
      <dgm:spPr/>
      <dgm:t>
        <a:bodyPr/>
        <a:lstStyle/>
        <a:p>
          <a:endParaRPr lang="en-US"/>
        </a:p>
      </dgm:t>
    </dgm:pt>
    <dgm:pt modelId="{225F193A-3ADB-43E1-A513-EF3C0E52D790}">
      <dgm:prSet/>
      <dgm:spPr/>
      <dgm:t>
        <a:bodyPr/>
        <a:lstStyle/>
        <a:p>
          <a:pPr>
            <a:lnSpc>
              <a:spcPct val="100000"/>
            </a:lnSpc>
          </a:pPr>
          <a:r>
            <a:rPr lang="en-US" dirty="0"/>
            <a:t>The dataset was obtained from the CDC's Behavioral Risk Factor Surveillance System (BRFSS) 2024 annual data, which is publicly available at this link: </a:t>
          </a:r>
          <a:r>
            <a:rPr lang="en-US" dirty="0">
              <a:hlinkClick xmlns:r="http://schemas.openxmlformats.org/officeDocument/2006/relationships" r:id="rId1"/>
            </a:rPr>
            <a:t>Behavioral Risk Factor Survelliance System</a:t>
          </a:r>
          <a:endParaRPr lang="en-US" dirty="0"/>
        </a:p>
      </dgm:t>
    </dgm:pt>
    <dgm:pt modelId="{6E7AA619-4619-4F97-AA3E-DF332A071E35}" type="parTrans" cxnId="{4B7035F9-F45E-45F3-8320-DA7A62D19665}">
      <dgm:prSet/>
      <dgm:spPr/>
      <dgm:t>
        <a:bodyPr/>
        <a:lstStyle/>
        <a:p>
          <a:endParaRPr lang="en-US"/>
        </a:p>
      </dgm:t>
    </dgm:pt>
    <dgm:pt modelId="{B8848D6B-4489-49E6-9BE3-251A00096E4C}" type="sibTrans" cxnId="{4B7035F9-F45E-45F3-8320-DA7A62D19665}">
      <dgm:prSet/>
      <dgm:spPr/>
      <dgm:t>
        <a:bodyPr/>
        <a:lstStyle/>
        <a:p>
          <a:endParaRPr lang="en-US"/>
        </a:p>
      </dgm:t>
    </dgm:pt>
    <dgm:pt modelId="{C125A56F-153B-4899-91DF-6AD6D1DFBDD2}">
      <dgm:prSet/>
      <dgm:spPr/>
      <dgm:t>
        <a:bodyPr/>
        <a:lstStyle/>
        <a:p>
          <a:pPr>
            <a:lnSpc>
              <a:spcPct val="100000"/>
            </a:lnSpc>
          </a:pPr>
          <a:r>
            <a:rPr lang="en-US" dirty="0"/>
            <a:t>The goal is to provide evidence-based insights that can support public health strategies to mitigate CHD risk factors.</a:t>
          </a:r>
        </a:p>
      </dgm:t>
    </dgm:pt>
    <dgm:pt modelId="{BB904818-AB2A-47A9-8E07-83EF0AD2B7D5}" type="parTrans" cxnId="{344DB9A5-5EFF-432E-89AE-9E9CB65E4EB6}">
      <dgm:prSet/>
      <dgm:spPr/>
      <dgm:t>
        <a:bodyPr/>
        <a:lstStyle/>
        <a:p>
          <a:endParaRPr lang="en-US"/>
        </a:p>
      </dgm:t>
    </dgm:pt>
    <dgm:pt modelId="{4F2692AD-BFCB-451A-B898-45A5AA8829DF}" type="sibTrans" cxnId="{344DB9A5-5EFF-432E-89AE-9E9CB65E4EB6}">
      <dgm:prSet/>
      <dgm:spPr/>
      <dgm:t>
        <a:bodyPr/>
        <a:lstStyle/>
        <a:p>
          <a:endParaRPr lang="en-US"/>
        </a:p>
      </dgm:t>
    </dgm:pt>
    <dgm:pt modelId="{6110A589-BBF8-4ED6-9613-E9870CC497FE}" type="pres">
      <dgm:prSet presAssocID="{524A02EE-A935-4994-A720-35A2C1F56739}" presName="root" presStyleCnt="0">
        <dgm:presLayoutVars>
          <dgm:dir/>
          <dgm:resizeHandles val="exact"/>
        </dgm:presLayoutVars>
      </dgm:prSet>
      <dgm:spPr/>
    </dgm:pt>
    <dgm:pt modelId="{6FFF226F-01EA-4D82-B740-DFD261E09374}" type="pres">
      <dgm:prSet presAssocID="{5F7FB74E-9550-47FB-B5BA-330A5D329747}" presName="compNode" presStyleCnt="0"/>
      <dgm:spPr/>
    </dgm:pt>
    <dgm:pt modelId="{F460304F-5ED0-4A03-AFC6-0BE3641B009D}" type="pres">
      <dgm:prSet presAssocID="{5F7FB74E-9550-47FB-B5BA-330A5D329747}" presName="bgRect" presStyleLbl="bgShp" presStyleIdx="0" presStyleCnt="4"/>
      <dgm:spPr/>
    </dgm:pt>
    <dgm:pt modelId="{8512962C-04DA-452B-B3D6-8D19D1DAA8CD}" type="pres">
      <dgm:prSet presAssocID="{5F7FB74E-9550-47FB-B5BA-330A5D329747}"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rt Organ"/>
        </a:ext>
      </dgm:extLst>
    </dgm:pt>
    <dgm:pt modelId="{5FD945F6-658A-4AE3-AA21-5593FD5D1F74}" type="pres">
      <dgm:prSet presAssocID="{5F7FB74E-9550-47FB-B5BA-330A5D329747}" presName="spaceRect" presStyleCnt="0"/>
      <dgm:spPr/>
    </dgm:pt>
    <dgm:pt modelId="{7FD31817-848A-41C6-85DE-5059FFD16394}" type="pres">
      <dgm:prSet presAssocID="{5F7FB74E-9550-47FB-B5BA-330A5D329747}" presName="parTx" presStyleLbl="revTx" presStyleIdx="0" presStyleCnt="4">
        <dgm:presLayoutVars>
          <dgm:chMax val="0"/>
          <dgm:chPref val="0"/>
        </dgm:presLayoutVars>
      </dgm:prSet>
      <dgm:spPr/>
    </dgm:pt>
    <dgm:pt modelId="{CB4DA6B1-4459-4836-9D5D-52379C845A11}" type="pres">
      <dgm:prSet presAssocID="{780B351D-463F-4C73-BDE7-60AE7AFB0EF3}" presName="sibTrans" presStyleCnt="0"/>
      <dgm:spPr/>
    </dgm:pt>
    <dgm:pt modelId="{52BD37CB-16E2-48BC-B3B4-1C6CC2A5E320}" type="pres">
      <dgm:prSet presAssocID="{84D7ECF4-924A-408A-8242-4B82B09F1053}" presName="compNode" presStyleCnt="0"/>
      <dgm:spPr/>
    </dgm:pt>
    <dgm:pt modelId="{3ADCAA36-0D0D-4F38-9530-42A3A2FAC09F}" type="pres">
      <dgm:prSet presAssocID="{84D7ECF4-924A-408A-8242-4B82B09F1053}" presName="bgRect" presStyleLbl="bgShp" presStyleIdx="1" presStyleCnt="4"/>
      <dgm:spPr/>
    </dgm:pt>
    <dgm:pt modelId="{062F87E8-F3C5-4D40-83D8-BCB2219AF24D}" type="pres">
      <dgm:prSet presAssocID="{84D7ECF4-924A-408A-8242-4B82B09F1053}"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atistics"/>
        </a:ext>
      </dgm:extLst>
    </dgm:pt>
    <dgm:pt modelId="{19F98EC7-619A-4776-B4EB-6AE01BF0F3A8}" type="pres">
      <dgm:prSet presAssocID="{84D7ECF4-924A-408A-8242-4B82B09F1053}" presName="spaceRect" presStyleCnt="0"/>
      <dgm:spPr/>
    </dgm:pt>
    <dgm:pt modelId="{5F869C13-6386-498F-A261-A29723BE15CB}" type="pres">
      <dgm:prSet presAssocID="{84D7ECF4-924A-408A-8242-4B82B09F1053}" presName="parTx" presStyleLbl="revTx" presStyleIdx="1" presStyleCnt="4">
        <dgm:presLayoutVars>
          <dgm:chMax val="0"/>
          <dgm:chPref val="0"/>
        </dgm:presLayoutVars>
      </dgm:prSet>
      <dgm:spPr/>
    </dgm:pt>
    <dgm:pt modelId="{8B8E7B68-10F3-4AFD-A438-744EFF9CC0CA}" type="pres">
      <dgm:prSet presAssocID="{712A2398-0F21-4476-873A-B861C71ABC78}" presName="sibTrans" presStyleCnt="0"/>
      <dgm:spPr/>
    </dgm:pt>
    <dgm:pt modelId="{EE8F35B4-2034-4812-A2AA-982E54CB4BC2}" type="pres">
      <dgm:prSet presAssocID="{225F193A-3ADB-43E1-A513-EF3C0E52D790}" presName="compNode" presStyleCnt="0"/>
      <dgm:spPr/>
    </dgm:pt>
    <dgm:pt modelId="{2A641AD0-CCB8-433E-B9D0-5EA08BE521DC}" type="pres">
      <dgm:prSet presAssocID="{225F193A-3ADB-43E1-A513-EF3C0E52D790}" presName="bgRect" presStyleLbl="bgShp" presStyleIdx="2" presStyleCnt="4"/>
      <dgm:spPr/>
    </dgm:pt>
    <dgm:pt modelId="{7D20B611-D930-4ADB-8B09-473FAC0ABAAF}" type="pres">
      <dgm:prSet presAssocID="{225F193A-3ADB-43E1-A513-EF3C0E52D790}"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Database"/>
        </a:ext>
      </dgm:extLst>
    </dgm:pt>
    <dgm:pt modelId="{8EC05E35-6CBB-4371-B533-69269E737A0E}" type="pres">
      <dgm:prSet presAssocID="{225F193A-3ADB-43E1-A513-EF3C0E52D790}" presName="spaceRect" presStyleCnt="0"/>
      <dgm:spPr/>
    </dgm:pt>
    <dgm:pt modelId="{9A7D33F4-DFF3-48FB-BF89-A6EF862AA172}" type="pres">
      <dgm:prSet presAssocID="{225F193A-3ADB-43E1-A513-EF3C0E52D790}" presName="parTx" presStyleLbl="revTx" presStyleIdx="2" presStyleCnt="4">
        <dgm:presLayoutVars>
          <dgm:chMax val="0"/>
          <dgm:chPref val="0"/>
        </dgm:presLayoutVars>
      </dgm:prSet>
      <dgm:spPr/>
    </dgm:pt>
    <dgm:pt modelId="{C45EF142-CAFC-45E3-8903-C3C0BABCC799}" type="pres">
      <dgm:prSet presAssocID="{B8848D6B-4489-49E6-9BE3-251A00096E4C}" presName="sibTrans" presStyleCnt="0"/>
      <dgm:spPr/>
    </dgm:pt>
    <dgm:pt modelId="{93F0921D-2777-4557-B2F0-31B364ADC82B}" type="pres">
      <dgm:prSet presAssocID="{C125A56F-153B-4899-91DF-6AD6D1DFBDD2}" presName="compNode" presStyleCnt="0"/>
      <dgm:spPr/>
    </dgm:pt>
    <dgm:pt modelId="{C7FC2A9F-4BA8-421C-B72A-1A961C7362F7}" type="pres">
      <dgm:prSet presAssocID="{C125A56F-153B-4899-91DF-6AD6D1DFBDD2}" presName="bgRect" presStyleLbl="bgShp" presStyleIdx="3" presStyleCnt="4"/>
      <dgm:spPr/>
    </dgm:pt>
    <dgm:pt modelId="{64B3C6EC-C417-4DE0-8F54-7F8B750E1223}" type="pres">
      <dgm:prSet presAssocID="{C125A56F-153B-4899-91DF-6AD6D1DFBDD2}"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ullseye"/>
        </a:ext>
      </dgm:extLst>
    </dgm:pt>
    <dgm:pt modelId="{B339DF4E-B772-4E77-8294-3EAB0375CF0A}" type="pres">
      <dgm:prSet presAssocID="{C125A56F-153B-4899-91DF-6AD6D1DFBDD2}" presName="spaceRect" presStyleCnt="0"/>
      <dgm:spPr/>
    </dgm:pt>
    <dgm:pt modelId="{4F599309-80EE-4BD1-B0FC-5F31B1F37A73}" type="pres">
      <dgm:prSet presAssocID="{C125A56F-153B-4899-91DF-6AD6D1DFBDD2}" presName="parTx" presStyleLbl="revTx" presStyleIdx="3" presStyleCnt="4">
        <dgm:presLayoutVars>
          <dgm:chMax val="0"/>
          <dgm:chPref val="0"/>
        </dgm:presLayoutVars>
      </dgm:prSet>
      <dgm:spPr/>
    </dgm:pt>
  </dgm:ptLst>
  <dgm:cxnLst>
    <dgm:cxn modelId="{2BC9DD0B-A06C-4F89-B2A6-E0000B5802F1}" type="presOf" srcId="{225F193A-3ADB-43E1-A513-EF3C0E52D790}" destId="{9A7D33F4-DFF3-48FB-BF89-A6EF862AA172}" srcOrd="0" destOrd="0" presId="urn:microsoft.com/office/officeart/2018/2/layout/IconVerticalSolidList"/>
    <dgm:cxn modelId="{8F46DB26-3457-45DE-B58B-46C2DD142213}" srcId="{524A02EE-A935-4994-A720-35A2C1F56739}" destId="{84D7ECF4-924A-408A-8242-4B82B09F1053}" srcOrd="1" destOrd="0" parTransId="{938BF010-6093-454D-8862-93B72EBDBF8C}" sibTransId="{712A2398-0F21-4476-873A-B861C71ABC78}"/>
    <dgm:cxn modelId="{7EC1B33B-C563-4143-8663-BF4B3E8D96ED}" type="presOf" srcId="{C125A56F-153B-4899-91DF-6AD6D1DFBDD2}" destId="{4F599309-80EE-4BD1-B0FC-5F31B1F37A73}" srcOrd="0" destOrd="0" presId="urn:microsoft.com/office/officeart/2018/2/layout/IconVerticalSolidList"/>
    <dgm:cxn modelId="{EEDAB261-0692-4121-A286-CFBBE1DFC97F}" type="presOf" srcId="{524A02EE-A935-4994-A720-35A2C1F56739}" destId="{6110A589-BBF8-4ED6-9613-E9870CC497FE}" srcOrd="0" destOrd="0" presId="urn:microsoft.com/office/officeart/2018/2/layout/IconVerticalSolidList"/>
    <dgm:cxn modelId="{344DB9A5-5EFF-432E-89AE-9E9CB65E4EB6}" srcId="{524A02EE-A935-4994-A720-35A2C1F56739}" destId="{C125A56F-153B-4899-91DF-6AD6D1DFBDD2}" srcOrd="3" destOrd="0" parTransId="{BB904818-AB2A-47A9-8E07-83EF0AD2B7D5}" sibTransId="{4F2692AD-BFCB-451A-B898-45A5AA8829DF}"/>
    <dgm:cxn modelId="{FC2709AB-AF02-498F-933D-0C844C7EACDD}" type="presOf" srcId="{5F7FB74E-9550-47FB-B5BA-330A5D329747}" destId="{7FD31817-848A-41C6-85DE-5059FFD16394}" srcOrd="0" destOrd="0" presId="urn:microsoft.com/office/officeart/2018/2/layout/IconVerticalSolidList"/>
    <dgm:cxn modelId="{59ED74CE-2696-4D98-8E2E-D34EEA0361CE}" type="presOf" srcId="{84D7ECF4-924A-408A-8242-4B82B09F1053}" destId="{5F869C13-6386-498F-A261-A29723BE15CB}" srcOrd="0" destOrd="0" presId="urn:microsoft.com/office/officeart/2018/2/layout/IconVerticalSolidList"/>
    <dgm:cxn modelId="{16DAD8DD-7F32-4EB7-AF72-DC888B8BAC07}" srcId="{524A02EE-A935-4994-A720-35A2C1F56739}" destId="{5F7FB74E-9550-47FB-B5BA-330A5D329747}" srcOrd="0" destOrd="0" parTransId="{B07C3572-9494-48EB-A919-BD3671AB7377}" sibTransId="{780B351D-463F-4C73-BDE7-60AE7AFB0EF3}"/>
    <dgm:cxn modelId="{4B7035F9-F45E-45F3-8320-DA7A62D19665}" srcId="{524A02EE-A935-4994-A720-35A2C1F56739}" destId="{225F193A-3ADB-43E1-A513-EF3C0E52D790}" srcOrd="2" destOrd="0" parTransId="{6E7AA619-4619-4F97-AA3E-DF332A071E35}" sibTransId="{B8848D6B-4489-49E6-9BE3-251A00096E4C}"/>
    <dgm:cxn modelId="{86840D7E-AA73-41D4-A71D-0A54760F5ACF}" type="presParOf" srcId="{6110A589-BBF8-4ED6-9613-E9870CC497FE}" destId="{6FFF226F-01EA-4D82-B740-DFD261E09374}" srcOrd="0" destOrd="0" presId="urn:microsoft.com/office/officeart/2018/2/layout/IconVerticalSolidList"/>
    <dgm:cxn modelId="{EEAA28E1-38D0-4D7B-81AF-AD08F8CD9636}" type="presParOf" srcId="{6FFF226F-01EA-4D82-B740-DFD261E09374}" destId="{F460304F-5ED0-4A03-AFC6-0BE3641B009D}" srcOrd="0" destOrd="0" presId="urn:microsoft.com/office/officeart/2018/2/layout/IconVerticalSolidList"/>
    <dgm:cxn modelId="{82A97D19-4D30-4F2E-8645-69C0AF92749C}" type="presParOf" srcId="{6FFF226F-01EA-4D82-B740-DFD261E09374}" destId="{8512962C-04DA-452B-B3D6-8D19D1DAA8CD}" srcOrd="1" destOrd="0" presId="urn:microsoft.com/office/officeart/2018/2/layout/IconVerticalSolidList"/>
    <dgm:cxn modelId="{F7BA0172-0E5D-40DB-A04C-F4A0FD079ED4}" type="presParOf" srcId="{6FFF226F-01EA-4D82-B740-DFD261E09374}" destId="{5FD945F6-658A-4AE3-AA21-5593FD5D1F74}" srcOrd="2" destOrd="0" presId="urn:microsoft.com/office/officeart/2018/2/layout/IconVerticalSolidList"/>
    <dgm:cxn modelId="{4D680748-A2A8-4F6E-B81B-FC7B3C9665D8}" type="presParOf" srcId="{6FFF226F-01EA-4D82-B740-DFD261E09374}" destId="{7FD31817-848A-41C6-85DE-5059FFD16394}" srcOrd="3" destOrd="0" presId="urn:microsoft.com/office/officeart/2018/2/layout/IconVerticalSolidList"/>
    <dgm:cxn modelId="{7253A94C-496F-4714-9BF9-424BA03BC34C}" type="presParOf" srcId="{6110A589-BBF8-4ED6-9613-E9870CC497FE}" destId="{CB4DA6B1-4459-4836-9D5D-52379C845A11}" srcOrd="1" destOrd="0" presId="urn:microsoft.com/office/officeart/2018/2/layout/IconVerticalSolidList"/>
    <dgm:cxn modelId="{2AC80D66-318C-4D2A-B687-BD307E6D7FBF}" type="presParOf" srcId="{6110A589-BBF8-4ED6-9613-E9870CC497FE}" destId="{52BD37CB-16E2-48BC-B3B4-1C6CC2A5E320}" srcOrd="2" destOrd="0" presId="urn:microsoft.com/office/officeart/2018/2/layout/IconVerticalSolidList"/>
    <dgm:cxn modelId="{78CB479A-83EE-4E19-98B4-E17DDFADBF82}" type="presParOf" srcId="{52BD37CB-16E2-48BC-B3B4-1C6CC2A5E320}" destId="{3ADCAA36-0D0D-4F38-9530-42A3A2FAC09F}" srcOrd="0" destOrd="0" presId="urn:microsoft.com/office/officeart/2018/2/layout/IconVerticalSolidList"/>
    <dgm:cxn modelId="{FDD32379-9A0F-4027-A314-343CA30A7566}" type="presParOf" srcId="{52BD37CB-16E2-48BC-B3B4-1C6CC2A5E320}" destId="{062F87E8-F3C5-4D40-83D8-BCB2219AF24D}" srcOrd="1" destOrd="0" presId="urn:microsoft.com/office/officeart/2018/2/layout/IconVerticalSolidList"/>
    <dgm:cxn modelId="{A3044AEA-BCFA-4C84-89BF-DD9113EE6832}" type="presParOf" srcId="{52BD37CB-16E2-48BC-B3B4-1C6CC2A5E320}" destId="{19F98EC7-619A-4776-B4EB-6AE01BF0F3A8}" srcOrd="2" destOrd="0" presId="urn:microsoft.com/office/officeart/2018/2/layout/IconVerticalSolidList"/>
    <dgm:cxn modelId="{768624DA-A009-4B12-B0D9-1812573ABF76}" type="presParOf" srcId="{52BD37CB-16E2-48BC-B3B4-1C6CC2A5E320}" destId="{5F869C13-6386-498F-A261-A29723BE15CB}" srcOrd="3" destOrd="0" presId="urn:microsoft.com/office/officeart/2018/2/layout/IconVerticalSolidList"/>
    <dgm:cxn modelId="{05260F01-1151-4947-8758-316DD4B370BF}" type="presParOf" srcId="{6110A589-BBF8-4ED6-9613-E9870CC497FE}" destId="{8B8E7B68-10F3-4AFD-A438-744EFF9CC0CA}" srcOrd="3" destOrd="0" presId="urn:microsoft.com/office/officeart/2018/2/layout/IconVerticalSolidList"/>
    <dgm:cxn modelId="{127E7AE7-AB15-4EAF-997D-81DD46E66E24}" type="presParOf" srcId="{6110A589-BBF8-4ED6-9613-E9870CC497FE}" destId="{EE8F35B4-2034-4812-A2AA-982E54CB4BC2}" srcOrd="4" destOrd="0" presId="urn:microsoft.com/office/officeart/2018/2/layout/IconVerticalSolidList"/>
    <dgm:cxn modelId="{552F34A6-C795-4597-A99C-6AD5F4F1D677}" type="presParOf" srcId="{EE8F35B4-2034-4812-A2AA-982E54CB4BC2}" destId="{2A641AD0-CCB8-433E-B9D0-5EA08BE521DC}" srcOrd="0" destOrd="0" presId="urn:microsoft.com/office/officeart/2018/2/layout/IconVerticalSolidList"/>
    <dgm:cxn modelId="{D137F9CB-2EFC-4758-9C3D-BC94D44A9AA6}" type="presParOf" srcId="{EE8F35B4-2034-4812-A2AA-982E54CB4BC2}" destId="{7D20B611-D930-4ADB-8B09-473FAC0ABAAF}" srcOrd="1" destOrd="0" presId="urn:microsoft.com/office/officeart/2018/2/layout/IconVerticalSolidList"/>
    <dgm:cxn modelId="{81FB72C4-98E3-40ED-83AA-F5B0A310DA34}" type="presParOf" srcId="{EE8F35B4-2034-4812-A2AA-982E54CB4BC2}" destId="{8EC05E35-6CBB-4371-B533-69269E737A0E}" srcOrd="2" destOrd="0" presId="urn:microsoft.com/office/officeart/2018/2/layout/IconVerticalSolidList"/>
    <dgm:cxn modelId="{B187BC8A-83D0-49D4-B891-8FDDE097569B}" type="presParOf" srcId="{EE8F35B4-2034-4812-A2AA-982E54CB4BC2}" destId="{9A7D33F4-DFF3-48FB-BF89-A6EF862AA172}" srcOrd="3" destOrd="0" presId="urn:microsoft.com/office/officeart/2018/2/layout/IconVerticalSolidList"/>
    <dgm:cxn modelId="{4EAB2ADA-E021-4718-9E28-7743C1044D4A}" type="presParOf" srcId="{6110A589-BBF8-4ED6-9613-E9870CC497FE}" destId="{C45EF142-CAFC-45E3-8903-C3C0BABCC799}" srcOrd="5" destOrd="0" presId="urn:microsoft.com/office/officeart/2018/2/layout/IconVerticalSolidList"/>
    <dgm:cxn modelId="{01794524-CD65-411F-B697-DA02CB826EB7}" type="presParOf" srcId="{6110A589-BBF8-4ED6-9613-E9870CC497FE}" destId="{93F0921D-2777-4557-B2F0-31B364ADC82B}" srcOrd="6" destOrd="0" presId="urn:microsoft.com/office/officeart/2018/2/layout/IconVerticalSolidList"/>
    <dgm:cxn modelId="{8D8F8244-228D-49EB-A5A0-9D48074A17C2}" type="presParOf" srcId="{93F0921D-2777-4557-B2F0-31B364ADC82B}" destId="{C7FC2A9F-4BA8-421C-B72A-1A961C7362F7}" srcOrd="0" destOrd="0" presId="urn:microsoft.com/office/officeart/2018/2/layout/IconVerticalSolidList"/>
    <dgm:cxn modelId="{223BCB11-D195-4913-B79C-D772CDD29F7A}" type="presParOf" srcId="{93F0921D-2777-4557-B2F0-31B364ADC82B}" destId="{64B3C6EC-C417-4DE0-8F54-7F8B750E1223}" srcOrd="1" destOrd="0" presId="urn:microsoft.com/office/officeart/2018/2/layout/IconVerticalSolidList"/>
    <dgm:cxn modelId="{1E9A6B6A-1852-45BC-9960-74D12547490B}" type="presParOf" srcId="{93F0921D-2777-4557-B2F0-31B364ADC82B}" destId="{B339DF4E-B772-4E77-8294-3EAB0375CF0A}" srcOrd="2" destOrd="0" presId="urn:microsoft.com/office/officeart/2018/2/layout/IconVerticalSolidList"/>
    <dgm:cxn modelId="{7837E04F-4BBD-4E73-8D5A-5127A753ED4D}" type="presParOf" srcId="{93F0921D-2777-4557-B2F0-31B364ADC82B}" destId="{4F599309-80EE-4BD1-B0FC-5F31B1F37A7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4AFDD9-7D71-4F0B-B7C4-82703CA10BE1}" type="doc">
      <dgm:prSet loTypeId="urn:microsoft.com/office/officeart/2005/8/layout/process5" loCatId="process" qsTypeId="urn:microsoft.com/office/officeart/2005/8/quickstyle/simple1" qsCatId="simple" csTypeId="urn:microsoft.com/office/officeart/2005/8/colors/accent3_2" csCatId="accent3" phldr="1"/>
      <dgm:spPr/>
      <dgm:t>
        <a:bodyPr/>
        <a:lstStyle/>
        <a:p>
          <a:endParaRPr lang="en-US"/>
        </a:p>
      </dgm:t>
    </dgm:pt>
    <dgm:pt modelId="{0A2AA8D9-43FB-4BBE-8217-B641687EBC8A}">
      <dgm:prSet phldrT="[Text]" phldr="0"/>
      <dgm:spPr/>
      <dgm:t>
        <a:bodyPr/>
        <a:lstStyle/>
        <a:p>
          <a:pPr rtl="0"/>
          <a:r>
            <a:rPr lang="en-US" b="1">
              <a:latin typeface="Avenir Next LT Pro"/>
            </a:rPr>
            <a:t>RAW DATA IMPORT FROM US CDC WEBSITE</a:t>
          </a:r>
        </a:p>
      </dgm:t>
    </dgm:pt>
    <dgm:pt modelId="{B3513740-8FAF-4CCC-BEBA-0AB42B2100F7}" type="parTrans" cxnId="{8BE9AFD1-4B97-4CE8-B929-723980CFF950}">
      <dgm:prSet/>
      <dgm:spPr/>
      <dgm:t>
        <a:bodyPr/>
        <a:lstStyle/>
        <a:p>
          <a:endParaRPr lang="en-US"/>
        </a:p>
      </dgm:t>
    </dgm:pt>
    <dgm:pt modelId="{471544FE-0AF0-433F-8700-1907BCEDADDF}" type="sibTrans" cxnId="{8BE9AFD1-4B97-4CE8-B929-723980CFF950}">
      <dgm:prSet/>
      <dgm:spPr/>
      <dgm:t>
        <a:bodyPr/>
        <a:lstStyle/>
        <a:p>
          <a:endParaRPr lang="en-US"/>
        </a:p>
      </dgm:t>
    </dgm:pt>
    <dgm:pt modelId="{2FC861A4-853E-48BA-A4D6-3D4937B06BA0}">
      <dgm:prSet phldrT="[Text]" phldr="0"/>
      <dgm:spPr/>
      <dgm:t>
        <a:bodyPr/>
        <a:lstStyle/>
        <a:p>
          <a:pPr rtl="0"/>
          <a:r>
            <a:rPr lang="en-US" b="1">
              <a:latin typeface="Avenir Next LT Pro"/>
            </a:rPr>
            <a:t>CLEAN &amp; FILTER DATA FOR EDA</a:t>
          </a:r>
          <a:endParaRPr lang="en-US" b="1"/>
        </a:p>
      </dgm:t>
    </dgm:pt>
    <dgm:pt modelId="{0FE8C6D5-FEAF-4E6E-9917-5F637B1144D7}" type="parTrans" cxnId="{445D9EE7-F169-4130-B9EA-070664445F65}">
      <dgm:prSet/>
      <dgm:spPr/>
      <dgm:t>
        <a:bodyPr/>
        <a:lstStyle/>
        <a:p>
          <a:endParaRPr lang="en-US"/>
        </a:p>
      </dgm:t>
    </dgm:pt>
    <dgm:pt modelId="{35BD52E0-D944-4455-94F1-855CE3206422}" type="sibTrans" cxnId="{445D9EE7-F169-4130-B9EA-070664445F65}">
      <dgm:prSet/>
      <dgm:spPr/>
      <dgm:t>
        <a:bodyPr/>
        <a:lstStyle/>
        <a:p>
          <a:endParaRPr lang="en-US"/>
        </a:p>
      </dgm:t>
    </dgm:pt>
    <dgm:pt modelId="{B8DF112F-046A-40BF-A22A-BCEED3EFEA2B}">
      <dgm:prSet phldrT="[Text]" phldr="0"/>
      <dgm:spPr/>
      <dgm:t>
        <a:bodyPr/>
        <a:lstStyle/>
        <a:p>
          <a:pPr rtl="0"/>
          <a:r>
            <a:rPr lang="en-US" b="1">
              <a:latin typeface="Avenir Next LT Pro"/>
            </a:rPr>
            <a:t>CHECK DATA INTEGRITY &amp; NORMALITY DISTRIBUTION</a:t>
          </a:r>
          <a:endParaRPr lang="en-US" b="1"/>
        </a:p>
      </dgm:t>
    </dgm:pt>
    <dgm:pt modelId="{C2A2E9B8-64E0-49E1-BBA4-79930D7021AA}" type="parTrans" cxnId="{A0DF10D7-8091-417C-8581-E9EE66601A4E}">
      <dgm:prSet/>
      <dgm:spPr/>
      <dgm:t>
        <a:bodyPr/>
        <a:lstStyle/>
        <a:p>
          <a:endParaRPr lang="en-US"/>
        </a:p>
      </dgm:t>
    </dgm:pt>
    <dgm:pt modelId="{AC9F9C5B-7B99-4EA1-A934-9CCC6E3A26E6}" type="sibTrans" cxnId="{A0DF10D7-8091-417C-8581-E9EE66601A4E}">
      <dgm:prSet/>
      <dgm:spPr/>
      <dgm:t>
        <a:bodyPr/>
        <a:lstStyle/>
        <a:p>
          <a:endParaRPr lang="en-US"/>
        </a:p>
      </dgm:t>
    </dgm:pt>
    <dgm:pt modelId="{E708DB21-2644-4A8A-A0B6-DEAF9F6FA224}">
      <dgm:prSet phldrT="[Text]" phldr="0"/>
      <dgm:spPr/>
      <dgm:t>
        <a:bodyPr/>
        <a:lstStyle/>
        <a:p>
          <a:pPr rtl="0"/>
          <a:r>
            <a:rPr lang="en-US" b="1">
              <a:latin typeface="Avenir Next LT Pro"/>
            </a:rPr>
            <a:t>GRAPHICAL ANALYSIS (HISTROGRAMS, QQPLOT, GGPLOT, </a:t>
          </a:r>
          <a:r>
            <a:rPr lang="en-US" b="1" err="1">
              <a:latin typeface="Avenir Next LT Pro"/>
            </a:rPr>
            <a:t>Etc</a:t>
          </a:r>
          <a:r>
            <a:rPr lang="en-US" b="1">
              <a:latin typeface="Avenir Next LT Pro"/>
            </a:rPr>
            <a:t>)</a:t>
          </a:r>
          <a:endParaRPr lang="en-US" b="1"/>
        </a:p>
      </dgm:t>
    </dgm:pt>
    <dgm:pt modelId="{9CABDB7D-2335-4CC9-ABEE-BCB445562510}" type="parTrans" cxnId="{E57B19B8-1453-4112-9290-72D9C128F45C}">
      <dgm:prSet/>
      <dgm:spPr/>
      <dgm:t>
        <a:bodyPr/>
        <a:lstStyle/>
        <a:p>
          <a:endParaRPr lang="en-US"/>
        </a:p>
      </dgm:t>
    </dgm:pt>
    <dgm:pt modelId="{382AA33A-5AF6-4DEA-B86B-B989F1A455FF}" type="sibTrans" cxnId="{E57B19B8-1453-4112-9290-72D9C128F45C}">
      <dgm:prSet/>
      <dgm:spPr/>
      <dgm:t>
        <a:bodyPr/>
        <a:lstStyle/>
        <a:p>
          <a:endParaRPr lang="en-US"/>
        </a:p>
      </dgm:t>
    </dgm:pt>
    <dgm:pt modelId="{F0A4FCA3-3BCE-48D7-A54E-D12F1C7B745D}">
      <dgm:prSet phldrT="[Text]" phldr="0"/>
      <dgm:spPr/>
      <dgm:t>
        <a:bodyPr/>
        <a:lstStyle/>
        <a:p>
          <a:pPr rtl="0"/>
          <a:r>
            <a:rPr lang="en-US" b="1">
              <a:latin typeface="Avenir Next LT Pro"/>
            </a:rPr>
            <a:t>HYPOTHENISIS TESTING (T-TEST, Z-TEST, CHI-TEST, ANOVA)</a:t>
          </a:r>
          <a:endParaRPr lang="en-US" b="1"/>
        </a:p>
      </dgm:t>
    </dgm:pt>
    <dgm:pt modelId="{23540941-7AF0-442B-B900-0C791C47502E}" type="parTrans" cxnId="{E85E847C-CFF7-4274-9E05-1CD1657FC6E9}">
      <dgm:prSet/>
      <dgm:spPr/>
      <dgm:t>
        <a:bodyPr/>
        <a:lstStyle/>
        <a:p>
          <a:endParaRPr lang="en-US"/>
        </a:p>
      </dgm:t>
    </dgm:pt>
    <dgm:pt modelId="{A81B11A8-2D2C-492F-961C-21612F555456}" type="sibTrans" cxnId="{E85E847C-CFF7-4274-9E05-1CD1657FC6E9}">
      <dgm:prSet/>
      <dgm:spPr/>
      <dgm:t>
        <a:bodyPr/>
        <a:lstStyle/>
        <a:p>
          <a:endParaRPr lang="en-US"/>
        </a:p>
      </dgm:t>
    </dgm:pt>
    <dgm:pt modelId="{D31EE92D-FD9A-4C42-AF2A-E11C5332319D}">
      <dgm:prSet phldr="0"/>
      <dgm:spPr/>
      <dgm:t>
        <a:bodyPr/>
        <a:lstStyle/>
        <a:p>
          <a:pPr rtl="0"/>
          <a:r>
            <a:rPr lang="en-US" b="1">
              <a:latin typeface="Avenir Next LT Pro"/>
            </a:rPr>
            <a:t>TRANSFORM DATA INTO READABLE CSV FORMAT</a:t>
          </a:r>
          <a:endParaRPr lang="en-US" b="1"/>
        </a:p>
      </dgm:t>
    </dgm:pt>
    <dgm:pt modelId="{D74CA2CA-E5A2-4038-A697-71EC68BCE278}" type="parTrans" cxnId="{69B47557-4EFD-4CC0-B588-CDCA0450E061}">
      <dgm:prSet/>
      <dgm:spPr/>
      <dgm:t>
        <a:bodyPr/>
        <a:lstStyle/>
        <a:p>
          <a:endParaRPr lang="en-US"/>
        </a:p>
      </dgm:t>
    </dgm:pt>
    <dgm:pt modelId="{D9F9F81F-46AD-4830-A8A5-5EE128A887F9}" type="sibTrans" cxnId="{69B47557-4EFD-4CC0-B588-CDCA0450E061}">
      <dgm:prSet/>
      <dgm:spPr/>
      <dgm:t>
        <a:bodyPr/>
        <a:lstStyle/>
        <a:p>
          <a:endParaRPr lang="en-US"/>
        </a:p>
      </dgm:t>
    </dgm:pt>
    <dgm:pt modelId="{0DAE2AC4-A03C-4785-AD60-D0494A60E0CE}">
      <dgm:prSet phldr="0"/>
      <dgm:spPr/>
      <dgm:t>
        <a:bodyPr/>
        <a:lstStyle/>
        <a:p>
          <a:pPr rtl="0"/>
          <a:r>
            <a:rPr lang="en-US" b="1">
              <a:latin typeface="Avenir Next LT Pro"/>
            </a:rPr>
            <a:t>SUMMARIZE RESULTS AND CONCLUDE MEDICAL FACTORS PREDICTION </a:t>
          </a:r>
          <a:endParaRPr lang="en-US" b="1"/>
        </a:p>
      </dgm:t>
    </dgm:pt>
    <dgm:pt modelId="{DC910F10-CC9B-4D35-A261-529BCE4833A9}" type="parTrans" cxnId="{CFDBE386-E4F2-40DE-94DB-492FF8C2E23B}">
      <dgm:prSet/>
      <dgm:spPr/>
      <dgm:t>
        <a:bodyPr/>
        <a:lstStyle/>
        <a:p>
          <a:endParaRPr lang="en-US"/>
        </a:p>
      </dgm:t>
    </dgm:pt>
    <dgm:pt modelId="{1220476A-5445-48CF-BD72-BC6F123C1741}" type="sibTrans" cxnId="{CFDBE386-E4F2-40DE-94DB-492FF8C2E23B}">
      <dgm:prSet/>
      <dgm:spPr/>
      <dgm:t>
        <a:bodyPr/>
        <a:lstStyle/>
        <a:p>
          <a:endParaRPr lang="en-US"/>
        </a:p>
      </dgm:t>
    </dgm:pt>
    <dgm:pt modelId="{D1EEAC5C-04C0-4DCA-B755-3FC9E9D6A970}" type="pres">
      <dgm:prSet presAssocID="{FC4AFDD9-7D71-4F0B-B7C4-82703CA10BE1}" presName="diagram" presStyleCnt="0">
        <dgm:presLayoutVars>
          <dgm:dir/>
          <dgm:resizeHandles val="exact"/>
        </dgm:presLayoutVars>
      </dgm:prSet>
      <dgm:spPr/>
    </dgm:pt>
    <dgm:pt modelId="{3990DAF6-F26C-4560-9499-B1E7D8F1C384}" type="pres">
      <dgm:prSet presAssocID="{0A2AA8D9-43FB-4BBE-8217-B641687EBC8A}" presName="node" presStyleLbl="node1" presStyleIdx="0" presStyleCnt="7">
        <dgm:presLayoutVars>
          <dgm:bulletEnabled val="1"/>
        </dgm:presLayoutVars>
      </dgm:prSet>
      <dgm:spPr/>
    </dgm:pt>
    <dgm:pt modelId="{39F5E749-A91C-4024-93A2-7864BD6435B0}" type="pres">
      <dgm:prSet presAssocID="{471544FE-0AF0-433F-8700-1907BCEDADDF}" presName="sibTrans" presStyleLbl="sibTrans2D1" presStyleIdx="0" presStyleCnt="6"/>
      <dgm:spPr/>
    </dgm:pt>
    <dgm:pt modelId="{CD06BF38-EFD6-421B-B05D-AFC301193CF9}" type="pres">
      <dgm:prSet presAssocID="{471544FE-0AF0-433F-8700-1907BCEDADDF}" presName="connectorText" presStyleLbl="sibTrans2D1" presStyleIdx="0" presStyleCnt="6"/>
      <dgm:spPr/>
    </dgm:pt>
    <dgm:pt modelId="{E3227B89-A20D-48C7-9AB1-78CF35460B41}" type="pres">
      <dgm:prSet presAssocID="{D31EE92D-FD9A-4C42-AF2A-E11C5332319D}" presName="node" presStyleLbl="node1" presStyleIdx="1" presStyleCnt="7">
        <dgm:presLayoutVars>
          <dgm:bulletEnabled val="1"/>
        </dgm:presLayoutVars>
      </dgm:prSet>
      <dgm:spPr/>
    </dgm:pt>
    <dgm:pt modelId="{E516F1FC-CCB8-4625-941B-FB749F99296D}" type="pres">
      <dgm:prSet presAssocID="{D9F9F81F-46AD-4830-A8A5-5EE128A887F9}" presName="sibTrans" presStyleLbl="sibTrans2D1" presStyleIdx="1" presStyleCnt="6"/>
      <dgm:spPr/>
    </dgm:pt>
    <dgm:pt modelId="{1C8C105C-1D1E-469F-A858-F4423156FE51}" type="pres">
      <dgm:prSet presAssocID="{D9F9F81F-46AD-4830-A8A5-5EE128A887F9}" presName="connectorText" presStyleLbl="sibTrans2D1" presStyleIdx="1" presStyleCnt="6"/>
      <dgm:spPr/>
    </dgm:pt>
    <dgm:pt modelId="{45B5298D-AA0E-4BA6-A26C-8D0F3BA8997A}" type="pres">
      <dgm:prSet presAssocID="{2FC861A4-853E-48BA-A4D6-3D4937B06BA0}" presName="node" presStyleLbl="node1" presStyleIdx="2" presStyleCnt="7">
        <dgm:presLayoutVars>
          <dgm:bulletEnabled val="1"/>
        </dgm:presLayoutVars>
      </dgm:prSet>
      <dgm:spPr/>
    </dgm:pt>
    <dgm:pt modelId="{B3222FBD-C714-4187-AD1C-A8C2188F6833}" type="pres">
      <dgm:prSet presAssocID="{35BD52E0-D944-4455-94F1-855CE3206422}" presName="sibTrans" presStyleLbl="sibTrans2D1" presStyleIdx="2" presStyleCnt="6"/>
      <dgm:spPr/>
    </dgm:pt>
    <dgm:pt modelId="{74B07E85-9C0A-42B7-A961-040B3B227A81}" type="pres">
      <dgm:prSet presAssocID="{35BD52E0-D944-4455-94F1-855CE3206422}" presName="connectorText" presStyleLbl="sibTrans2D1" presStyleIdx="2" presStyleCnt="6"/>
      <dgm:spPr/>
    </dgm:pt>
    <dgm:pt modelId="{1C553BEC-461F-4684-A9B8-946413992077}" type="pres">
      <dgm:prSet presAssocID="{B8DF112F-046A-40BF-A22A-BCEED3EFEA2B}" presName="node" presStyleLbl="node1" presStyleIdx="3" presStyleCnt="7">
        <dgm:presLayoutVars>
          <dgm:bulletEnabled val="1"/>
        </dgm:presLayoutVars>
      </dgm:prSet>
      <dgm:spPr/>
    </dgm:pt>
    <dgm:pt modelId="{B2909D40-D087-40F2-891A-6205000782D5}" type="pres">
      <dgm:prSet presAssocID="{AC9F9C5B-7B99-4EA1-A934-9CCC6E3A26E6}" presName="sibTrans" presStyleLbl="sibTrans2D1" presStyleIdx="3" presStyleCnt="6"/>
      <dgm:spPr/>
    </dgm:pt>
    <dgm:pt modelId="{E2F19306-778B-4570-8AD7-95DD29CFCDED}" type="pres">
      <dgm:prSet presAssocID="{AC9F9C5B-7B99-4EA1-A934-9CCC6E3A26E6}" presName="connectorText" presStyleLbl="sibTrans2D1" presStyleIdx="3" presStyleCnt="6"/>
      <dgm:spPr/>
    </dgm:pt>
    <dgm:pt modelId="{EC9D4286-A0E5-415B-867A-CCACABB7AA5A}" type="pres">
      <dgm:prSet presAssocID="{E708DB21-2644-4A8A-A0B6-DEAF9F6FA224}" presName="node" presStyleLbl="node1" presStyleIdx="4" presStyleCnt="7">
        <dgm:presLayoutVars>
          <dgm:bulletEnabled val="1"/>
        </dgm:presLayoutVars>
      </dgm:prSet>
      <dgm:spPr/>
    </dgm:pt>
    <dgm:pt modelId="{456AAC9A-BCB9-4C7C-987D-65B7151864C8}" type="pres">
      <dgm:prSet presAssocID="{382AA33A-5AF6-4DEA-B86B-B989F1A455FF}" presName="sibTrans" presStyleLbl="sibTrans2D1" presStyleIdx="4" presStyleCnt="6"/>
      <dgm:spPr/>
    </dgm:pt>
    <dgm:pt modelId="{BD13B01D-0418-4E5A-A30A-4E9B5AD1426D}" type="pres">
      <dgm:prSet presAssocID="{382AA33A-5AF6-4DEA-B86B-B989F1A455FF}" presName="connectorText" presStyleLbl="sibTrans2D1" presStyleIdx="4" presStyleCnt="6"/>
      <dgm:spPr/>
    </dgm:pt>
    <dgm:pt modelId="{A53B113D-AB20-4197-A94A-9D1D7A22ACDD}" type="pres">
      <dgm:prSet presAssocID="{F0A4FCA3-3BCE-48D7-A54E-D12F1C7B745D}" presName="node" presStyleLbl="node1" presStyleIdx="5" presStyleCnt="7">
        <dgm:presLayoutVars>
          <dgm:bulletEnabled val="1"/>
        </dgm:presLayoutVars>
      </dgm:prSet>
      <dgm:spPr/>
    </dgm:pt>
    <dgm:pt modelId="{3BF58CED-7A22-404C-B6E2-ABC124A3EC51}" type="pres">
      <dgm:prSet presAssocID="{A81B11A8-2D2C-492F-961C-21612F555456}" presName="sibTrans" presStyleLbl="sibTrans2D1" presStyleIdx="5" presStyleCnt="6"/>
      <dgm:spPr/>
    </dgm:pt>
    <dgm:pt modelId="{98D9E22B-2C65-45AA-9F58-0964058E168C}" type="pres">
      <dgm:prSet presAssocID="{A81B11A8-2D2C-492F-961C-21612F555456}" presName="connectorText" presStyleLbl="sibTrans2D1" presStyleIdx="5" presStyleCnt="6"/>
      <dgm:spPr/>
    </dgm:pt>
    <dgm:pt modelId="{0D90801E-C5E0-44E9-8BA3-D8345E51B55C}" type="pres">
      <dgm:prSet presAssocID="{0DAE2AC4-A03C-4785-AD60-D0494A60E0CE}" presName="node" presStyleLbl="node1" presStyleIdx="6" presStyleCnt="7">
        <dgm:presLayoutVars>
          <dgm:bulletEnabled val="1"/>
        </dgm:presLayoutVars>
      </dgm:prSet>
      <dgm:spPr/>
    </dgm:pt>
  </dgm:ptLst>
  <dgm:cxnLst>
    <dgm:cxn modelId="{1F09E63A-26F9-46FE-9A45-667A7877E68B}" type="presOf" srcId="{382AA33A-5AF6-4DEA-B86B-B989F1A455FF}" destId="{BD13B01D-0418-4E5A-A30A-4E9B5AD1426D}" srcOrd="1" destOrd="0" presId="urn:microsoft.com/office/officeart/2005/8/layout/process5"/>
    <dgm:cxn modelId="{09F72567-4518-4562-B557-624562CF1117}" type="presOf" srcId="{35BD52E0-D944-4455-94F1-855CE3206422}" destId="{74B07E85-9C0A-42B7-A961-040B3B227A81}" srcOrd="1" destOrd="0" presId="urn:microsoft.com/office/officeart/2005/8/layout/process5"/>
    <dgm:cxn modelId="{90418A4A-2C70-4697-824F-5B0964952412}" type="presOf" srcId="{E708DB21-2644-4A8A-A0B6-DEAF9F6FA224}" destId="{EC9D4286-A0E5-415B-867A-CCACABB7AA5A}" srcOrd="0" destOrd="0" presId="urn:microsoft.com/office/officeart/2005/8/layout/process5"/>
    <dgm:cxn modelId="{96BF7753-1FED-446F-8D63-CCAC9EB6AFE5}" type="presOf" srcId="{2FC861A4-853E-48BA-A4D6-3D4937B06BA0}" destId="{45B5298D-AA0E-4BA6-A26C-8D0F3BA8997A}" srcOrd="0" destOrd="0" presId="urn:microsoft.com/office/officeart/2005/8/layout/process5"/>
    <dgm:cxn modelId="{69B47557-4EFD-4CC0-B588-CDCA0450E061}" srcId="{FC4AFDD9-7D71-4F0B-B7C4-82703CA10BE1}" destId="{D31EE92D-FD9A-4C42-AF2A-E11C5332319D}" srcOrd="1" destOrd="0" parTransId="{D74CA2CA-E5A2-4038-A697-71EC68BCE278}" sibTransId="{D9F9F81F-46AD-4830-A8A5-5EE128A887F9}"/>
    <dgm:cxn modelId="{7B68D259-BBE7-4CE0-90F4-2DBE8821CF63}" type="presOf" srcId="{A81B11A8-2D2C-492F-961C-21612F555456}" destId="{3BF58CED-7A22-404C-B6E2-ABC124A3EC51}" srcOrd="0" destOrd="0" presId="urn:microsoft.com/office/officeart/2005/8/layout/process5"/>
    <dgm:cxn modelId="{E85E847C-CFF7-4274-9E05-1CD1657FC6E9}" srcId="{FC4AFDD9-7D71-4F0B-B7C4-82703CA10BE1}" destId="{F0A4FCA3-3BCE-48D7-A54E-D12F1C7B745D}" srcOrd="5" destOrd="0" parTransId="{23540941-7AF0-442B-B900-0C791C47502E}" sibTransId="{A81B11A8-2D2C-492F-961C-21612F555456}"/>
    <dgm:cxn modelId="{BE83947D-43B8-46D8-BADA-5F37D3FCDBEC}" type="presOf" srcId="{AC9F9C5B-7B99-4EA1-A934-9CCC6E3A26E6}" destId="{B2909D40-D087-40F2-891A-6205000782D5}" srcOrd="0" destOrd="0" presId="urn:microsoft.com/office/officeart/2005/8/layout/process5"/>
    <dgm:cxn modelId="{D07A197F-22D9-4077-9C9F-4EEB4D9B1BEB}" type="presOf" srcId="{D9F9F81F-46AD-4830-A8A5-5EE128A887F9}" destId="{E516F1FC-CCB8-4625-941B-FB749F99296D}" srcOrd="0" destOrd="0" presId="urn:microsoft.com/office/officeart/2005/8/layout/process5"/>
    <dgm:cxn modelId="{CFDBE386-E4F2-40DE-94DB-492FF8C2E23B}" srcId="{FC4AFDD9-7D71-4F0B-B7C4-82703CA10BE1}" destId="{0DAE2AC4-A03C-4785-AD60-D0494A60E0CE}" srcOrd="6" destOrd="0" parTransId="{DC910F10-CC9B-4D35-A261-529BCE4833A9}" sibTransId="{1220476A-5445-48CF-BD72-BC6F123C1741}"/>
    <dgm:cxn modelId="{60783395-8469-4DCD-BB8C-0E13FE1D95BE}" type="presOf" srcId="{35BD52E0-D944-4455-94F1-855CE3206422}" destId="{B3222FBD-C714-4187-AD1C-A8C2188F6833}" srcOrd="0" destOrd="0" presId="urn:microsoft.com/office/officeart/2005/8/layout/process5"/>
    <dgm:cxn modelId="{C708DCB2-F19D-4E12-8FCE-3D94DA4EAADB}" type="presOf" srcId="{AC9F9C5B-7B99-4EA1-A934-9CCC6E3A26E6}" destId="{E2F19306-778B-4570-8AD7-95DD29CFCDED}" srcOrd="1" destOrd="0" presId="urn:microsoft.com/office/officeart/2005/8/layout/process5"/>
    <dgm:cxn modelId="{09FCEDB4-CE80-4F55-8F4B-529581539B4E}" type="presOf" srcId="{B8DF112F-046A-40BF-A22A-BCEED3EFEA2B}" destId="{1C553BEC-461F-4684-A9B8-946413992077}" srcOrd="0" destOrd="0" presId="urn:microsoft.com/office/officeart/2005/8/layout/process5"/>
    <dgm:cxn modelId="{E57B19B8-1453-4112-9290-72D9C128F45C}" srcId="{FC4AFDD9-7D71-4F0B-B7C4-82703CA10BE1}" destId="{E708DB21-2644-4A8A-A0B6-DEAF9F6FA224}" srcOrd="4" destOrd="0" parTransId="{9CABDB7D-2335-4CC9-ABEE-BCB445562510}" sibTransId="{382AA33A-5AF6-4DEA-B86B-B989F1A455FF}"/>
    <dgm:cxn modelId="{E04620BA-786B-4B0F-95D4-4209FC640276}" type="presOf" srcId="{0A2AA8D9-43FB-4BBE-8217-B641687EBC8A}" destId="{3990DAF6-F26C-4560-9499-B1E7D8F1C384}" srcOrd="0" destOrd="0" presId="urn:microsoft.com/office/officeart/2005/8/layout/process5"/>
    <dgm:cxn modelId="{6FBC7AC3-B57E-402F-8055-AD3C7AA35A1B}" type="presOf" srcId="{A81B11A8-2D2C-492F-961C-21612F555456}" destId="{98D9E22B-2C65-45AA-9F58-0964058E168C}" srcOrd="1" destOrd="0" presId="urn:microsoft.com/office/officeart/2005/8/layout/process5"/>
    <dgm:cxn modelId="{6E76E1CD-AA0F-454F-8467-07CD9DB4AF58}" type="presOf" srcId="{FC4AFDD9-7D71-4F0B-B7C4-82703CA10BE1}" destId="{D1EEAC5C-04C0-4DCA-B755-3FC9E9D6A970}" srcOrd="0" destOrd="0" presId="urn:microsoft.com/office/officeart/2005/8/layout/process5"/>
    <dgm:cxn modelId="{8BE9AFD1-4B97-4CE8-B929-723980CFF950}" srcId="{FC4AFDD9-7D71-4F0B-B7C4-82703CA10BE1}" destId="{0A2AA8D9-43FB-4BBE-8217-B641687EBC8A}" srcOrd="0" destOrd="0" parTransId="{B3513740-8FAF-4CCC-BEBA-0AB42B2100F7}" sibTransId="{471544FE-0AF0-433F-8700-1907BCEDADDF}"/>
    <dgm:cxn modelId="{A0131CD2-AB3B-4F9E-97FB-54B60B99B75F}" type="presOf" srcId="{471544FE-0AF0-433F-8700-1907BCEDADDF}" destId="{CD06BF38-EFD6-421B-B05D-AFC301193CF9}" srcOrd="1" destOrd="0" presId="urn:microsoft.com/office/officeart/2005/8/layout/process5"/>
    <dgm:cxn modelId="{0B609DD2-AF85-4350-B378-DEF2EFC833DF}" type="presOf" srcId="{0DAE2AC4-A03C-4785-AD60-D0494A60E0CE}" destId="{0D90801E-C5E0-44E9-8BA3-D8345E51B55C}" srcOrd="0" destOrd="0" presId="urn:microsoft.com/office/officeart/2005/8/layout/process5"/>
    <dgm:cxn modelId="{A0DF10D7-8091-417C-8581-E9EE66601A4E}" srcId="{FC4AFDD9-7D71-4F0B-B7C4-82703CA10BE1}" destId="{B8DF112F-046A-40BF-A22A-BCEED3EFEA2B}" srcOrd="3" destOrd="0" parTransId="{C2A2E9B8-64E0-49E1-BBA4-79930D7021AA}" sibTransId="{AC9F9C5B-7B99-4EA1-A934-9CCC6E3A26E6}"/>
    <dgm:cxn modelId="{209C1CDF-E335-4996-831E-FE1AF1DE679C}" type="presOf" srcId="{F0A4FCA3-3BCE-48D7-A54E-D12F1C7B745D}" destId="{A53B113D-AB20-4197-A94A-9D1D7A22ACDD}" srcOrd="0" destOrd="0" presId="urn:microsoft.com/office/officeart/2005/8/layout/process5"/>
    <dgm:cxn modelId="{749E61E3-0B1B-40C5-9B9D-ECDC7BEB62EE}" type="presOf" srcId="{382AA33A-5AF6-4DEA-B86B-B989F1A455FF}" destId="{456AAC9A-BCB9-4C7C-987D-65B7151864C8}" srcOrd="0" destOrd="0" presId="urn:microsoft.com/office/officeart/2005/8/layout/process5"/>
    <dgm:cxn modelId="{8E9592E3-CD4F-4858-AC89-32F0971287B2}" type="presOf" srcId="{471544FE-0AF0-433F-8700-1907BCEDADDF}" destId="{39F5E749-A91C-4024-93A2-7864BD6435B0}" srcOrd="0" destOrd="0" presId="urn:microsoft.com/office/officeart/2005/8/layout/process5"/>
    <dgm:cxn modelId="{38AA7BE6-9138-49F5-B938-25585458D105}" type="presOf" srcId="{D31EE92D-FD9A-4C42-AF2A-E11C5332319D}" destId="{E3227B89-A20D-48C7-9AB1-78CF35460B41}" srcOrd="0" destOrd="0" presId="urn:microsoft.com/office/officeart/2005/8/layout/process5"/>
    <dgm:cxn modelId="{445D9EE7-F169-4130-B9EA-070664445F65}" srcId="{FC4AFDD9-7D71-4F0B-B7C4-82703CA10BE1}" destId="{2FC861A4-853E-48BA-A4D6-3D4937B06BA0}" srcOrd="2" destOrd="0" parTransId="{0FE8C6D5-FEAF-4E6E-9917-5F637B1144D7}" sibTransId="{35BD52E0-D944-4455-94F1-855CE3206422}"/>
    <dgm:cxn modelId="{2F2B6AFF-F9F6-47FE-B695-31940C35C855}" type="presOf" srcId="{D9F9F81F-46AD-4830-A8A5-5EE128A887F9}" destId="{1C8C105C-1D1E-469F-A858-F4423156FE51}" srcOrd="1" destOrd="0" presId="urn:microsoft.com/office/officeart/2005/8/layout/process5"/>
    <dgm:cxn modelId="{8AEA851A-87AD-4277-88E2-DDC8CAA90D69}" type="presParOf" srcId="{D1EEAC5C-04C0-4DCA-B755-3FC9E9D6A970}" destId="{3990DAF6-F26C-4560-9499-B1E7D8F1C384}" srcOrd="0" destOrd="0" presId="urn:microsoft.com/office/officeart/2005/8/layout/process5"/>
    <dgm:cxn modelId="{038EAD5B-5BAE-4355-985E-3A2A5E81E7AA}" type="presParOf" srcId="{D1EEAC5C-04C0-4DCA-B755-3FC9E9D6A970}" destId="{39F5E749-A91C-4024-93A2-7864BD6435B0}" srcOrd="1" destOrd="0" presId="urn:microsoft.com/office/officeart/2005/8/layout/process5"/>
    <dgm:cxn modelId="{64315A6B-E102-4ABC-B5E3-A06D3D91285B}" type="presParOf" srcId="{39F5E749-A91C-4024-93A2-7864BD6435B0}" destId="{CD06BF38-EFD6-421B-B05D-AFC301193CF9}" srcOrd="0" destOrd="0" presId="urn:microsoft.com/office/officeart/2005/8/layout/process5"/>
    <dgm:cxn modelId="{3F7D33E2-EC55-4BAA-A351-1271B4D83DB4}" type="presParOf" srcId="{D1EEAC5C-04C0-4DCA-B755-3FC9E9D6A970}" destId="{E3227B89-A20D-48C7-9AB1-78CF35460B41}" srcOrd="2" destOrd="0" presId="urn:microsoft.com/office/officeart/2005/8/layout/process5"/>
    <dgm:cxn modelId="{10C10293-0BE8-4514-9C43-E08910439432}" type="presParOf" srcId="{D1EEAC5C-04C0-4DCA-B755-3FC9E9D6A970}" destId="{E516F1FC-CCB8-4625-941B-FB749F99296D}" srcOrd="3" destOrd="0" presId="urn:microsoft.com/office/officeart/2005/8/layout/process5"/>
    <dgm:cxn modelId="{4B423289-2385-4E98-B3BE-154D98869D13}" type="presParOf" srcId="{E516F1FC-CCB8-4625-941B-FB749F99296D}" destId="{1C8C105C-1D1E-469F-A858-F4423156FE51}" srcOrd="0" destOrd="0" presId="urn:microsoft.com/office/officeart/2005/8/layout/process5"/>
    <dgm:cxn modelId="{537AFAB1-BD9D-4B07-9DB5-023A9D50391B}" type="presParOf" srcId="{D1EEAC5C-04C0-4DCA-B755-3FC9E9D6A970}" destId="{45B5298D-AA0E-4BA6-A26C-8D0F3BA8997A}" srcOrd="4" destOrd="0" presId="urn:microsoft.com/office/officeart/2005/8/layout/process5"/>
    <dgm:cxn modelId="{9F0A6DD1-9DFB-4176-BC30-759095A137F4}" type="presParOf" srcId="{D1EEAC5C-04C0-4DCA-B755-3FC9E9D6A970}" destId="{B3222FBD-C714-4187-AD1C-A8C2188F6833}" srcOrd="5" destOrd="0" presId="urn:microsoft.com/office/officeart/2005/8/layout/process5"/>
    <dgm:cxn modelId="{E45E9C6A-81D5-486C-847B-4A9FD5895D03}" type="presParOf" srcId="{B3222FBD-C714-4187-AD1C-A8C2188F6833}" destId="{74B07E85-9C0A-42B7-A961-040B3B227A81}" srcOrd="0" destOrd="0" presId="urn:microsoft.com/office/officeart/2005/8/layout/process5"/>
    <dgm:cxn modelId="{C8D48750-DAD1-45B4-BBE1-5A8B68711715}" type="presParOf" srcId="{D1EEAC5C-04C0-4DCA-B755-3FC9E9D6A970}" destId="{1C553BEC-461F-4684-A9B8-946413992077}" srcOrd="6" destOrd="0" presId="urn:microsoft.com/office/officeart/2005/8/layout/process5"/>
    <dgm:cxn modelId="{B4D1A118-DD5D-42F2-AF14-15F352314D53}" type="presParOf" srcId="{D1EEAC5C-04C0-4DCA-B755-3FC9E9D6A970}" destId="{B2909D40-D087-40F2-891A-6205000782D5}" srcOrd="7" destOrd="0" presId="urn:microsoft.com/office/officeart/2005/8/layout/process5"/>
    <dgm:cxn modelId="{E270CFAE-2C48-400F-AC55-EF9C354E90BF}" type="presParOf" srcId="{B2909D40-D087-40F2-891A-6205000782D5}" destId="{E2F19306-778B-4570-8AD7-95DD29CFCDED}" srcOrd="0" destOrd="0" presId="urn:microsoft.com/office/officeart/2005/8/layout/process5"/>
    <dgm:cxn modelId="{2C535E1A-CF10-4706-9B10-268422BB25B4}" type="presParOf" srcId="{D1EEAC5C-04C0-4DCA-B755-3FC9E9D6A970}" destId="{EC9D4286-A0E5-415B-867A-CCACABB7AA5A}" srcOrd="8" destOrd="0" presId="urn:microsoft.com/office/officeart/2005/8/layout/process5"/>
    <dgm:cxn modelId="{6411AF19-4518-487E-B8AF-0D2602DD44B7}" type="presParOf" srcId="{D1EEAC5C-04C0-4DCA-B755-3FC9E9D6A970}" destId="{456AAC9A-BCB9-4C7C-987D-65B7151864C8}" srcOrd="9" destOrd="0" presId="urn:microsoft.com/office/officeart/2005/8/layout/process5"/>
    <dgm:cxn modelId="{6F6B5C14-46A3-443B-AAB6-E63B64ECD1EF}" type="presParOf" srcId="{456AAC9A-BCB9-4C7C-987D-65B7151864C8}" destId="{BD13B01D-0418-4E5A-A30A-4E9B5AD1426D}" srcOrd="0" destOrd="0" presId="urn:microsoft.com/office/officeart/2005/8/layout/process5"/>
    <dgm:cxn modelId="{A1A40197-5366-4F87-B90E-96936796EB2F}" type="presParOf" srcId="{D1EEAC5C-04C0-4DCA-B755-3FC9E9D6A970}" destId="{A53B113D-AB20-4197-A94A-9D1D7A22ACDD}" srcOrd="10" destOrd="0" presId="urn:microsoft.com/office/officeart/2005/8/layout/process5"/>
    <dgm:cxn modelId="{38893DC4-0919-47E1-B38A-6C0C8CA6DAF5}" type="presParOf" srcId="{D1EEAC5C-04C0-4DCA-B755-3FC9E9D6A970}" destId="{3BF58CED-7A22-404C-B6E2-ABC124A3EC51}" srcOrd="11" destOrd="0" presId="urn:microsoft.com/office/officeart/2005/8/layout/process5"/>
    <dgm:cxn modelId="{16487187-C690-479D-9C1E-F6CC15894AC0}" type="presParOf" srcId="{3BF58CED-7A22-404C-B6E2-ABC124A3EC51}" destId="{98D9E22B-2C65-45AA-9F58-0964058E168C}" srcOrd="0" destOrd="0" presId="urn:microsoft.com/office/officeart/2005/8/layout/process5"/>
    <dgm:cxn modelId="{6ACD14F2-C6F1-4816-AD36-D8B658032EB6}" type="presParOf" srcId="{D1EEAC5C-04C0-4DCA-B755-3FC9E9D6A970}" destId="{0D90801E-C5E0-44E9-8BA3-D8345E51B55C}" srcOrd="12"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61C940-DF0F-4821-BF78-E986BB3467BD}" type="doc">
      <dgm:prSet loTypeId="urn:microsoft.com/office/officeart/2005/8/layout/chevron1" loCatId="process" qsTypeId="urn:microsoft.com/office/officeart/2005/8/quickstyle/simple1" qsCatId="simple" csTypeId="urn:microsoft.com/office/officeart/2005/8/colors/accent1_2" csCatId="accent1" phldr="1"/>
      <dgm:spPr/>
    </dgm:pt>
    <dgm:pt modelId="{1AC83ADA-2FEA-4343-BA76-76FA95D7CF3B}">
      <dgm:prSet phldrT="[Text]" phldr="0"/>
      <dgm:spPr/>
      <dgm:t>
        <a:bodyPr/>
        <a:lstStyle/>
        <a:p>
          <a:pPr rtl="0"/>
          <a:r>
            <a:rPr lang="en-US">
              <a:latin typeface="Avenir Next LT Pro"/>
            </a:rPr>
            <a:t>Download raw data file from CDC</a:t>
          </a:r>
          <a:r>
            <a:rPr lang="en-US"/>
            <a:t> Portal (.</a:t>
          </a:r>
          <a:r>
            <a:rPr lang="en-US" err="1"/>
            <a:t>xpt</a:t>
          </a:r>
          <a:r>
            <a:rPr lang="en-US"/>
            <a:t> file) SASS</a:t>
          </a:r>
        </a:p>
      </dgm:t>
    </dgm:pt>
    <dgm:pt modelId="{68BCC179-32ED-45B6-9371-481F05CA12A3}" type="parTrans" cxnId="{6501FFC4-0F69-4B03-919B-08765B6CF7D4}">
      <dgm:prSet/>
      <dgm:spPr/>
    </dgm:pt>
    <dgm:pt modelId="{3D536CED-0878-485D-93CA-05B7E0A4251A}" type="sibTrans" cxnId="{6501FFC4-0F69-4B03-919B-08765B6CF7D4}">
      <dgm:prSet/>
      <dgm:spPr/>
    </dgm:pt>
    <dgm:pt modelId="{7ABBEA1D-2EA1-40C6-9F3F-3B686030390A}">
      <dgm:prSet phldrT="[Text]" phldr="0"/>
      <dgm:spPr/>
      <dgm:t>
        <a:bodyPr/>
        <a:lstStyle/>
        <a:p>
          <a:pPr rtl="0"/>
          <a:r>
            <a:rPr lang="en-US">
              <a:latin typeface="Avenir Next LT Pro"/>
            </a:rPr>
            <a:t>Analyse Codebook</a:t>
          </a:r>
          <a:r>
            <a:rPr lang="en-US"/>
            <a:t> </a:t>
          </a:r>
          <a:r>
            <a:rPr lang="en-US">
              <a:latin typeface="Avenir Next LT Pro"/>
            </a:rPr>
            <a:t>Documentation </a:t>
          </a:r>
          <a:r>
            <a:rPr lang="en-US"/>
            <a:t>(</a:t>
          </a:r>
          <a:r>
            <a:rPr lang="en-US">
              <a:latin typeface="Avenir Next LT Pro"/>
            </a:rPr>
            <a:t>CDC</a:t>
          </a:r>
          <a:r>
            <a:rPr lang="en-US"/>
            <a:t> website)</a:t>
          </a:r>
          <a:r>
            <a:rPr lang="en-US">
              <a:latin typeface="Avenir Next LT Pro"/>
            </a:rPr>
            <a:t> for specific variables mapping definition </a:t>
          </a:r>
          <a:endParaRPr lang="en-US"/>
        </a:p>
      </dgm:t>
    </dgm:pt>
    <dgm:pt modelId="{2666835A-549A-4020-A133-A6FF86DEC4AB}" type="parTrans" cxnId="{24991ED6-C63C-4C36-991A-F409B258F0B8}">
      <dgm:prSet/>
      <dgm:spPr/>
    </dgm:pt>
    <dgm:pt modelId="{3BAC2226-5364-47CA-9CB2-D9B0D7325321}" type="sibTrans" cxnId="{24991ED6-C63C-4C36-991A-F409B258F0B8}">
      <dgm:prSet/>
      <dgm:spPr/>
    </dgm:pt>
    <dgm:pt modelId="{19321F61-E0EB-421D-A00E-22FE8A04842F}">
      <dgm:prSet phldrT="[Text]" phldr="0"/>
      <dgm:spPr/>
      <dgm:t>
        <a:bodyPr/>
        <a:lstStyle/>
        <a:p>
          <a:pPr rtl="0"/>
          <a:r>
            <a:rPr lang="en-US">
              <a:latin typeface="Avenir Next LT Pro"/>
            </a:rPr>
            <a:t>Create a python script to read</a:t>
          </a:r>
          <a:r>
            <a:rPr lang="en-US"/>
            <a:t> the sass file and generate the table data in .csv file</a:t>
          </a:r>
          <a:r>
            <a:rPr lang="en-US">
              <a:latin typeface="Avenir Next LT Pro"/>
            </a:rPr>
            <a:t> format</a:t>
          </a:r>
          <a:endParaRPr lang="en-US"/>
        </a:p>
      </dgm:t>
    </dgm:pt>
    <dgm:pt modelId="{2332A5DF-2B3A-466E-B15D-9F384CF192C6}" type="parTrans" cxnId="{4527C72E-01C8-4516-95BF-6B6C285E8DF5}">
      <dgm:prSet/>
      <dgm:spPr/>
    </dgm:pt>
    <dgm:pt modelId="{7E4E03BD-55D9-457D-B61E-3CF20428D955}" type="sibTrans" cxnId="{4527C72E-01C8-4516-95BF-6B6C285E8DF5}">
      <dgm:prSet/>
      <dgm:spPr/>
    </dgm:pt>
    <dgm:pt modelId="{75D441C4-DDD7-44AC-A640-3E8600A09BDD}">
      <dgm:prSet phldr="0"/>
      <dgm:spPr/>
      <dgm:t>
        <a:bodyPr/>
        <a:lstStyle/>
        <a:p>
          <a:pPr rtl="0"/>
          <a:r>
            <a:rPr lang="en-US"/>
            <a:t>Data load in </a:t>
          </a:r>
          <a:r>
            <a:rPr lang="en-US" err="1"/>
            <a:t>rmd</a:t>
          </a:r>
          <a:r>
            <a:rPr lang="en-US"/>
            <a:t> file with just the required column variables data for our EDA Analysis</a:t>
          </a:r>
          <a:endParaRPr lang="en-US">
            <a:latin typeface="Avenir Next LT Pro"/>
          </a:endParaRPr>
        </a:p>
      </dgm:t>
    </dgm:pt>
    <dgm:pt modelId="{C03E2C6A-4A24-436C-900A-50998DD0F02C}" type="parTrans" cxnId="{E17AACB7-F5E1-4269-9860-1D8C69E59938}">
      <dgm:prSet/>
      <dgm:spPr/>
    </dgm:pt>
    <dgm:pt modelId="{A00DD3CD-F11E-4D00-9F7E-BD9DE49EBF7B}" type="sibTrans" cxnId="{E17AACB7-F5E1-4269-9860-1D8C69E59938}">
      <dgm:prSet/>
      <dgm:spPr/>
    </dgm:pt>
    <dgm:pt modelId="{9026A21E-A7F6-43D4-AABE-553E23858D27}">
      <dgm:prSet phldr="0"/>
      <dgm:spPr/>
      <dgm:t>
        <a:bodyPr/>
        <a:lstStyle/>
        <a:p>
          <a:pPr rtl="0"/>
          <a:r>
            <a:rPr lang="en-US">
              <a:latin typeface="Avenir Next LT Pro"/>
            </a:rPr>
            <a:t>Clean the data set by checking for missing values and filter the data set for outlier treatment (Impossible/ Dirty data handling)</a:t>
          </a:r>
        </a:p>
      </dgm:t>
    </dgm:pt>
    <dgm:pt modelId="{3C1B6F34-9DBC-4F2C-B154-E5713E4F0AD4}" type="parTrans" cxnId="{F42DCE4C-0D9E-4DA8-8126-69FB94DAF59C}">
      <dgm:prSet/>
      <dgm:spPr/>
    </dgm:pt>
    <dgm:pt modelId="{8266F0FA-3F26-4BE8-93A4-DE9FB323D335}" type="sibTrans" cxnId="{F42DCE4C-0D9E-4DA8-8126-69FB94DAF59C}">
      <dgm:prSet/>
      <dgm:spPr/>
    </dgm:pt>
    <dgm:pt modelId="{77BEE357-53D8-4C4F-8BC3-7A2345BC739B}" type="pres">
      <dgm:prSet presAssocID="{1761C940-DF0F-4821-BF78-E986BB3467BD}" presName="Name0" presStyleCnt="0">
        <dgm:presLayoutVars>
          <dgm:dir/>
          <dgm:animLvl val="lvl"/>
          <dgm:resizeHandles val="exact"/>
        </dgm:presLayoutVars>
      </dgm:prSet>
      <dgm:spPr/>
    </dgm:pt>
    <dgm:pt modelId="{67A55EAF-EB05-4254-ABFE-9E256048639B}" type="pres">
      <dgm:prSet presAssocID="{1AC83ADA-2FEA-4343-BA76-76FA95D7CF3B}" presName="parTxOnly" presStyleLbl="node1" presStyleIdx="0" presStyleCnt="5">
        <dgm:presLayoutVars>
          <dgm:chMax val="0"/>
          <dgm:chPref val="0"/>
          <dgm:bulletEnabled val="1"/>
        </dgm:presLayoutVars>
      </dgm:prSet>
      <dgm:spPr/>
    </dgm:pt>
    <dgm:pt modelId="{F9C9409E-51EB-48F1-AC7A-A03ABE6FE75E}" type="pres">
      <dgm:prSet presAssocID="{3D536CED-0878-485D-93CA-05B7E0A4251A}" presName="parTxOnlySpace" presStyleCnt="0"/>
      <dgm:spPr/>
    </dgm:pt>
    <dgm:pt modelId="{12493EBF-E2B3-45DF-81E2-F995F28E2FB4}" type="pres">
      <dgm:prSet presAssocID="{7ABBEA1D-2EA1-40C6-9F3F-3B686030390A}" presName="parTxOnly" presStyleLbl="node1" presStyleIdx="1" presStyleCnt="5">
        <dgm:presLayoutVars>
          <dgm:chMax val="0"/>
          <dgm:chPref val="0"/>
          <dgm:bulletEnabled val="1"/>
        </dgm:presLayoutVars>
      </dgm:prSet>
      <dgm:spPr/>
    </dgm:pt>
    <dgm:pt modelId="{D8654639-1004-41BD-923F-408C09164B3B}" type="pres">
      <dgm:prSet presAssocID="{3BAC2226-5364-47CA-9CB2-D9B0D7325321}" presName="parTxOnlySpace" presStyleCnt="0"/>
      <dgm:spPr/>
    </dgm:pt>
    <dgm:pt modelId="{DF2C2A15-EC24-4E39-94AD-6EBAB6BF2033}" type="pres">
      <dgm:prSet presAssocID="{19321F61-E0EB-421D-A00E-22FE8A04842F}" presName="parTxOnly" presStyleLbl="node1" presStyleIdx="2" presStyleCnt="5">
        <dgm:presLayoutVars>
          <dgm:chMax val="0"/>
          <dgm:chPref val="0"/>
          <dgm:bulletEnabled val="1"/>
        </dgm:presLayoutVars>
      </dgm:prSet>
      <dgm:spPr/>
    </dgm:pt>
    <dgm:pt modelId="{3FFCF012-8385-43C6-82EC-3D8AA2141341}" type="pres">
      <dgm:prSet presAssocID="{7E4E03BD-55D9-457D-B61E-3CF20428D955}" presName="parTxOnlySpace" presStyleCnt="0"/>
      <dgm:spPr/>
    </dgm:pt>
    <dgm:pt modelId="{1241CEDE-B51D-4E19-ADF9-198F0C704839}" type="pres">
      <dgm:prSet presAssocID="{75D441C4-DDD7-44AC-A640-3E8600A09BDD}" presName="parTxOnly" presStyleLbl="node1" presStyleIdx="3" presStyleCnt="5">
        <dgm:presLayoutVars>
          <dgm:chMax val="0"/>
          <dgm:chPref val="0"/>
          <dgm:bulletEnabled val="1"/>
        </dgm:presLayoutVars>
      </dgm:prSet>
      <dgm:spPr/>
    </dgm:pt>
    <dgm:pt modelId="{A6FC2914-AAD3-48E3-9E84-C29B5C3505F0}" type="pres">
      <dgm:prSet presAssocID="{A00DD3CD-F11E-4D00-9F7E-BD9DE49EBF7B}" presName="parTxOnlySpace" presStyleCnt="0"/>
      <dgm:spPr/>
    </dgm:pt>
    <dgm:pt modelId="{6AB2921E-BA93-4F9F-BEFB-88CBF2811840}" type="pres">
      <dgm:prSet presAssocID="{9026A21E-A7F6-43D4-AABE-553E23858D27}" presName="parTxOnly" presStyleLbl="node1" presStyleIdx="4" presStyleCnt="5">
        <dgm:presLayoutVars>
          <dgm:chMax val="0"/>
          <dgm:chPref val="0"/>
          <dgm:bulletEnabled val="1"/>
        </dgm:presLayoutVars>
      </dgm:prSet>
      <dgm:spPr/>
    </dgm:pt>
  </dgm:ptLst>
  <dgm:cxnLst>
    <dgm:cxn modelId="{CB008F02-1D57-4600-9351-D865FF742BEA}" type="presOf" srcId="{75D441C4-DDD7-44AC-A640-3E8600A09BDD}" destId="{1241CEDE-B51D-4E19-ADF9-198F0C704839}" srcOrd="0" destOrd="0" presId="urn:microsoft.com/office/officeart/2005/8/layout/chevron1"/>
    <dgm:cxn modelId="{EE771021-080B-461E-B443-0CF04DB010DD}" type="presOf" srcId="{9026A21E-A7F6-43D4-AABE-553E23858D27}" destId="{6AB2921E-BA93-4F9F-BEFB-88CBF2811840}" srcOrd="0" destOrd="0" presId="urn:microsoft.com/office/officeart/2005/8/layout/chevron1"/>
    <dgm:cxn modelId="{4527C72E-01C8-4516-95BF-6B6C285E8DF5}" srcId="{1761C940-DF0F-4821-BF78-E986BB3467BD}" destId="{19321F61-E0EB-421D-A00E-22FE8A04842F}" srcOrd="2" destOrd="0" parTransId="{2332A5DF-2B3A-466E-B15D-9F384CF192C6}" sibTransId="{7E4E03BD-55D9-457D-B61E-3CF20428D955}"/>
    <dgm:cxn modelId="{AF5F0E6B-2DDF-4C65-B0F9-F2D952B9D025}" type="presOf" srcId="{1AC83ADA-2FEA-4343-BA76-76FA95D7CF3B}" destId="{67A55EAF-EB05-4254-ABFE-9E256048639B}" srcOrd="0" destOrd="0" presId="urn:microsoft.com/office/officeart/2005/8/layout/chevron1"/>
    <dgm:cxn modelId="{F42DCE4C-0D9E-4DA8-8126-69FB94DAF59C}" srcId="{1761C940-DF0F-4821-BF78-E986BB3467BD}" destId="{9026A21E-A7F6-43D4-AABE-553E23858D27}" srcOrd="4" destOrd="0" parTransId="{3C1B6F34-9DBC-4F2C-B154-E5713E4F0AD4}" sibTransId="{8266F0FA-3F26-4BE8-93A4-DE9FB323D335}"/>
    <dgm:cxn modelId="{E17AACB7-F5E1-4269-9860-1D8C69E59938}" srcId="{1761C940-DF0F-4821-BF78-E986BB3467BD}" destId="{75D441C4-DDD7-44AC-A640-3E8600A09BDD}" srcOrd="3" destOrd="0" parTransId="{C03E2C6A-4A24-436C-900A-50998DD0F02C}" sibTransId="{A00DD3CD-F11E-4D00-9F7E-BD9DE49EBF7B}"/>
    <dgm:cxn modelId="{F14BC3C3-D3BF-4AE5-A41B-92E71AF740AB}" type="presOf" srcId="{1761C940-DF0F-4821-BF78-E986BB3467BD}" destId="{77BEE357-53D8-4C4F-8BC3-7A2345BC739B}" srcOrd="0" destOrd="0" presId="urn:microsoft.com/office/officeart/2005/8/layout/chevron1"/>
    <dgm:cxn modelId="{6501FFC4-0F69-4B03-919B-08765B6CF7D4}" srcId="{1761C940-DF0F-4821-BF78-E986BB3467BD}" destId="{1AC83ADA-2FEA-4343-BA76-76FA95D7CF3B}" srcOrd="0" destOrd="0" parTransId="{68BCC179-32ED-45B6-9371-481F05CA12A3}" sibTransId="{3D536CED-0878-485D-93CA-05B7E0A4251A}"/>
    <dgm:cxn modelId="{0F5B4DD2-86E6-415C-AA0E-36C39E203546}" type="presOf" srcId="{7ABBEA1D-2EA1-40C6-9F3F-3B686030390A}" destId="{12493EBF-E2B3-45DF-81E2-F995F28E2FB4}" srcOrd="0" destOrd="0" presId="urn:microsoft.com/office/officeart/2005/8/layout/chevron1"/>
    <dgm:cxn modelId="{24991ED6-C63C-4C36-991A-F409B258F0B8}" srcId="{1761C940-DF0F-4821-BF78-E986BB3467BD}" destId="{7ABBEA1D-2EA1-40C6-9F3F-3B686030390A}" srcOrd="1" destOrd="0" parTransId="{2666835A-549A-4020-A133-A6FF86DEC4AB}" sibTransId="{3BAC2226-5364-47CA-9CB2-D9B0D7325321}"/>
    <dgm:cxn modelId="{B672C1F3-7018-4671-8555-4842691B4B06}" type="presOf" srcId="{19321F61-E0EB-421D-A00E-22FE8A04842F}" destId="{DF2C2A15-EC24-4E39-94AD-6EBAB6BF2033}" srcOrd="0" destOrd="0" presId="urn:microsoft.com/office/officeart/2005/8/layout/chevron1"/>
    <dgm:cxn modelId="{8CE433C9-60DC-40CB-83BE-458D2555CDC5}" type="presParOf" srcId="{77BEE357-53D8-4C4F-8BC3-7A2345BC739B}" destId="{67A55EAF-EB05-4254-ABFE-9E256048639B}" srcOrd="0" destOrd="0" presId="urn:microsoft.com/office/officeart/2005/8/layout/chevron1"/>
    <dgm:cxn modelId="{2E10A99C-D90B-46F7-96D3-7D69EC67343C}" type="presParOf" srcId="{77BEE357-53D8-4C4F-8BC3-7A2345BC739B}" destId="{F9C9409E-51EB-48F1-AC7A-A03ABE6FE75E}" srcOrd="1" destOrd="0" presId="urn:microsoft.com/office/officeart/2005/8/layout/chevron1"/>
    <dgm:cxn modelId="{4454729E-9958-4370-8125-B6F64205BE52}" type="presParOf" srcId="{77BEE357-53D8-4C4F-8BC3-7A2345BC739B}" destId="{12493EBF-E2B3-45DF-81E2-F995F28E2FB4}" srcOrd="2" destOrd="0" presId="urn:microsoft.com/office/officeart/2005/8/layout/chevron1"/>
    <dgm:cxn modelId="{4A319B25-D7FF-4737-B388-2882A2F2FA0B}" type="presParOf" srcId="{77BEE357-53D8-4C4F-8BC3-7A2345BC739B}" destId="{D8654639-1004-41BD-923F-408C09164B3B}" srcOrd="3" destOrd="0" presId="urn:microsoft.com/office/officeart/2005/8/layout/chevron1"/>
    <dgm:cxn modelId="{629827B9-27E1-4721-99CD-EA5EAA44BFA9}" type="presParOf" srcId="{77BEE357-53D8-4C4F-8BC3-7A2345BC739B}" destId="{DF2C2A15-EC24-4E39-94AD-6EBAB6BF2033}" srcOrd="4" destOrd="0" presId="urn:microsoft.com/office/officeart/2005/8/layout/chevron1"/>
    <dgm:cxn modelId="{C77EC3F1-C748-4E37-945D-D9B5E43B1D1A}" type="presParOf" srcId="{77BEE357-53D8-4C4F-8BC3-7A2345BC739B}" destId="{3FFCF012-8385-43C6-82EC-3D8AA2141341}" srcOrd="5" destOrd="0" presId="urn:microsoft.com/office/officeart/2005/8/layout/chevron1"/>
    <dgm:cxn modelId="{194BF66E-5BFA-48A5-B8F5-84C8EE5A0423}" type="presParOf" srcId="{77BEE357-53D8-4C4F-8BC3-7A2345BC739B}" destId="{1241CEDE-B51D-4E19-ADF9-198F0C704839}" srcOrd="6" destOrd="0" presId="urn:microsoft.com/office/officeart/2005/8/layout/chevron1"/>
    <dgm:cxn modelId="{695A189A-60A4-4B0A-9F07-07C313A426D3}" type="presParOf" srcId="{77BEE357-53D8-4C4F-8BC3-7A2345BC739B}" destId="{A6FC2914-AAD3-48E3-9E84-C29B5C3505F0}" srcOrd="7" destOrd="0" presId="urn:microsoft.com/office/officeart/2005/8/layout/chevron1"/>
    <dgm:cxn modelId="{AB63C457-CECC-4474-B180-6F0216649986}" type="presParOf" srcId="{77BEE357-53D8-4C4F-8BC3-7A2345BC739B}" destId="{6AB2921E-BA93-4F9F-BEFB-88CBF2811840}" srcOrd="8"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39F821-4152-4D57-B4D0-7E79007613C8}" type="doc">
      <dgm:prSet loTypeId="urn:microsoft.com/office/officeart/2005/8/layout/vList3" loCatId="list" qsTypeId="urn:microsoft.com/office/officeart/2005/8/quickstyle/simple5" qsCatId="simple" csTypeId="urn:microsoft.com/office/officeart/2005/8/colors/accent1_2" csCatId="accent1" phldr="1"/>
      <dgm:spPr/>
      <dgm:t>
        <a:bodyPr/>
        <a:lstStyle/>
        <a:p>
          <a:endParaRPr lang="en-IN"/>
        </a:p>
      </dgm:t>
    </dgm:pt>
    <dgm:pt modelId="{3CE136E8-7805-4783-98B0-AE0B3633797F}">
      <dgm:prSet phldrT="[Text]"/>
      <dgm:spPr/>
      <dgm:t>
        <a:bodyPr/>
        <a:lstStyle/>
        <a:p>
          <a:pPr>
            <a:buFont typeface="Arial" panose="020B0604020202020204" pitchFamily="34" charset="0"/>
            <a:buChar char="•"/>
          </a:pPr>
          <a:r>
            <a:rPr lang="en-US" b="0" i="0" u="none"/>
            <a:t>Is there a significant difference in BMI between people with and without coronary heart disease? (T-test)</a:t>
          </a:r>
          <a:r>
            <a:rPr lang="en-US" b="0" i="0"/>
            <a:t>​</a:t>
          </a:r>
          <a:endParaRPr lang="en-IN"/>
        </a:p>
      </dgm:t>
    </dgm:pt>
    <dgm:pt modelId="{68581DE0-414C-4420-85E4-81E5EAACBB9B}" type="parTrans" cxnId="{65E6DD41-F23B-426D-8E28-CB8160FA475E}">
      <dgm:prSet/>
      <dgm:spPr/>
      <dgm:t>
        <a:bodyPr/>
        <a:lstStyle/>
        <a:p>
          <a:endParaRPr lang="en-IN"/>
        </a:p>
      </dgm:t>
    </dgm:pt>
    <dgm:pt modelId="{4165296A-D717-41E5-92B4-31470837F096}" type="sibTrans" cxnId="{65E6DD41-F23B-426D-8E28-CB8160FA475E}">
      <dgm:prSet/>
      <dgm:spPr/>
      <dgm:t>
        <a:bodyPr/>
        <a:lstStyle/>
        <a:p>
          <a:endParaRPr lang="en-IN"/>
        </a:p>
      </dgm:t>
    </dgm:pt>
    <dgm:pt modelId="{6AC5A0B2-1AAE-4119-9D3F-66F90BD5B21F}">
      <dgm:prSet/>
      <dgm:spPr/>
      <dgm:t>
        <a:bodyPr/>
        <a:lstStyle/>
        <a:p>
          <a:pPr>
            <a:buFont typeface="Arial" panose="020B0604020202020204" pitchFamily="34" charset="0"/>
            <a:buChar char="•"/>
          </a:pPr>
          <a:r>
            <a:rPr lang="en-US" b="0" i="0" u="none"/>
            <a:t>Is smoking status associated with coronary heart disease? (Chi-squared test)</a:t>
          </a:r>
          <a:r>
            <a:rPr lang="en-US" b="0" i="0"/>
            <a:t>​</a:t>
          </a:r>
        </a:p>
      </dgm:t>
    </dgm:pt>
    <dgm:pt modelId="{49EB9768-9682-4192-8D4B-84E0C97C0960}" type="parTrans" cxnId="{2438B405-DE45-4A1F-802E-C3E7D7494ABB}">
      <dgm:prSet/>
      <dgm:spPr/>
      <dgm:t>
        <a:bodyPr/>
        <a:lstStyle/>
        <a:p>
          <a:endParaRPr lang="en-IN"/>
        </a:p>
      </dgm:t>
    </dgm:pt>
    <dgm:pt modelId="{594855EE-A333-46EA-A868-9E983264895A}" type="sibTrans" cxnId="{2438B405-DE45-4A1F-802E-C3E7D7494ABB}">
      <dgm:prSet/>
      <dgm:spPr/>
      <dgm:t>
        <a:bodyPr/>
        <a:lstStyle/>
        <a:p>
          <a:endParaRPr lang="en-IN"/>
        </a:p>
      </dgm:t>
    </dgm:pt>
    <dgm:pt modelId="{89696B5E-E94D-4457-91F3-DF3D39BB35AB}">
      <dgm:prSet/>
      <dgm:spPr/>
      <dgm:t>
        <a:bodyPr/>
        <a:lstStyle/>
        <a:p>
          <a:pPr>
            <a:buFont typeface="Arial" panose="020B0604020202020204" pitchFamily="34" charset="0"/>
            <a:buChar char="•"/>
          </a:pPr>
          <a:r>
            <a:rPr lang="en-US" b="0" i="0" u="none"/>
            <a:t>Does BMI vary significantly across different general health status levels? (Anova)</a:t>
          </a:r>
          <a:r>
            <a:rPr lang="en-US" b="0" i="0"/>
            <a:t>​</a:t>
          </a:r>
        </a:p>
      </dgm:t>
    </dgm:pt>
    <dgm:pt modelId="{F07B9268-C610-4836-B727-DDDD6E15AC94}" type="parTrans" cxnId="{A932E840-301E-4729-BEB9-7FCABC1B66AC}">
      <dgm:prSet/>
      <dgm:spPr/>
      <dgm:t>
        <a:bodyPr/>
        <a:lstStyle/>
        <a:p>
          <a:endParaRPr lang="en-IN"/>
        </a:p>
      </dgm:t>
    </dgm:pt>
    <dgm:pt modelId="{C9F7C9A2-DC29-46D8-B219-F80B28BB069A}" type="sibTrans" cxnId="{A932E840-301E-4729-BEB9-7FCABC1B66AC}">
      <dgm:prSet/>
      <dgm:spPr/>
      <dgm:t>
        <a:bodyPr/>
        <a:lstStyle/>
        <a:p>
          <a:endParaRPr lang="en-IN"/>
        </a:p>
      </dgm:t>
    </dgm:pt>
    <dgm:pt modelId="{3813C8A7-C237-4986-8FBA-7962F630BC49}">
      <dgm:prSet/>
      <dgm:spPr/>
      <dgm:t>
        <a:bodyPr/>
        <a:lstStyle/>
        <a:p>
          <a:pPr>
            <a:buFont typeface="Arial" panose="020B0604020202020204" pitchFamily="34" charset="0"/>
            <a:buChar char="•"/>
          </a:pPr>
          <a:r>
            <a:rPr lang="en-US" b="0" i="0" u="none"/>
            <a:t>Does exercise participations vary significantly across different BMI categories, suggesting a role in weight management? (Chi-square test)</a:t>
          </a:r>
          <a:r>
            <a:rPr lang="en-US" b="0" i="0"/>
            <a:t>​</a:t>
          </a:r>
        </a:p>
      </dgm:t>
    </dgm:pt>
    <dgm:pt modelId="{CA51053C-E7CE-4BCF-BF1C-003B723EE7FE}" type="parTrans" cxnId="{FDA7F527-6317-4C6B-8857-3CB4B9391A57}">
      <dgm:prSet/>
      <dgm:spPr/>
      <dgm:t>
        <a:bodyPr/>
        <a:lstStyle/>
        <a:p>
          <a:endParaRPr lang="en-IN"/>
        </a:p>
      </dgm:t>
    </dgm:pt>
    <dgm:pt modelId="{F6F0BE3C-CB5D-4842-81FB-611FBEAA9A1F}" type="sibTrans" cxnId="{FDA7F527-6317-4C6B-8857-3CB4B9391A57}">
      <dgm:prSet/>
      <dgm:spPr/>
      <dgm:t>
        <a:bodyPr/>
        <a:lstStyle/>
        <a:p>
          <a:endParaRPr lang="en-IN"/>
        </a:p>
      </dgm:t>
    </dgm:pt>
    <dgm:pt modelId="{7DE203D4-FB44-4921-9374-282EAB430F73}">
      <dgm:prSet/>
      <dgm:spPr/>
      <dgm:t>
        <a:bodyPr/>
        <a:lstStyle/>
        <a:p>
          <a:pPr>
            <a:buFont typeface="Arial" panose="020B0604020202020204" pitchFamily="34" charset="0"/>
            <a:buChar char="•"/>
          </a:pPr>
          <a:r>
            <a:rPr lang="en-US" b="0" i="0" u="none"/>
            <a:t>Is diabetes status associated with coronary heart disease? (Chi-square)</a:t>
          </a:r>
          <a:endParaRPr lang="en-US" b="0" i="0"/>
        </a:p>
      </dgm:t>
    </dgm:pt>
    <dgm:pt modelId="{B1A5B4BC-D368-49FC-804E-0990D3F33362}" type="parTrans" cxnId="{84779A2E-22EF-466D-B7FD-7E6D1EB387B1}">
      <dgm:prSet/>
      <dgm:spPr/>
      <dgm:t>
        <a:bodyPr/>
        <a:lstStyle/>
        <a:p>
          <a:endParaRPr lang="en-IN"/>
        </a:p>
      </dgm:t>
    </dgm:pt>
    <dgm:pt modelId="{D7087FA6-530F-4ECA-9B45-8792F9352E68}" type="sibTrans" cxnId="{84779A2E-22EF-466D-B7FD-7E6D1EB387B1}">
      <dgm:prSet/>
      <dgm:spPr/>
      <dgm:t>
        <a:bodyPr/>
        <a:lstStyle/>
        <a:p>
          <a:endParaRPr lang="en-IN"/>
        </a:p>
      </dgm:t>
    </dgm:pt>
    <dgm:pt modelId="{635EA46E-885D-4B30-B92B-E79F986F7E01}" type="pres">
      <dgm:prSet presAssocID="{2E39F821-4152-4D57-B4D0-7E79007613C8}" presName="linearFlow" presStyleCnt="0">
        <dgm:presLayoutVars>
          <dgm:dir/>
          <dgm:resizeHandles val="exact"/>
        </dgm:presLayoutVars>
      </dgm:prSet>
      <dgm:spPr/>
    </dgm:pt>
    <dgm:pt modelId="{D0331318-EBA5-448A-896B-2D7D7A860592}" type="pres">
      <dgm:prSet presAssocID="{3CE136E8-7805-4783-98B0-AE0B3633797F}" presName="composite" presStyleCnt="0"/>
      <dgm:spPr/>
    </dgm:pt>
    <dgm:pt modelId="{3D49A23A-FBF5-42CE-A156-F458995F8A08}" type="pres">
      <dgm:prSet presAssocID="{3CE136E8-7805-4783-98B0-AE0B3633797F}" presName="imgShp" presStyleLbl="fgImgPlac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Connections with solid fill"/>
        </a:ext>
      </dgm:extLst>
    </dgm:pt>
    <dgm:pt modelId="{900D739B-FC49-427C-91C4-822DBCC99712}" type="pres">
      <dgm:prSet presAssocID="{3CE136E8-7805-4783-98B0-AE0B3633797F}" presName="txShp" presStyleLbl="node1" presStyleIdx="0" presStyleCnt="5">
        <dgm:presLayoutVars>
          <dgm:bulletEnabled val="1"/>
        </dgm:presLayoutVars>
      </dgm:prSet>
      <dgm:spPr/>
    </dgm:pt>
    <dgm:pt modelId="{AF2CD796-67DA-46AA-868C-5A8A5E0F0322}" type="pres">
      <dgm:prSet presAssocID="{4165296A-D717-41E5-92B4-31470837F096}" presName="spacing" presStyleCnt="0"/>
      <dgm:spPr/>
    </dgm:pt>
    <dgm:pt modelId="{BDC79719-3FA8-4910-B5A4-6E7FC440615E}" type="pres">
      <dgm:prSet presAssocID="{6AC5A0B2-1AAE-4119-9D3F-66F90BD5B21F}" presName="composite" presStyleCnt="0"/>
      <dgm:spPr/>
    </dgm:pt>
    <dgm:pt modelId="{62111073-7017-40BB-943D-06CA4142E0DA}" type="pres">
      <dgm:prSet presAssocID="{6AC5A0B2-1AAE-4119-9D3F-66F90BD5B21F}" presName="imgShp" presStyleLbl="fgImgPlac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ungs with solid fill"/>
        </a:ext>
      </dgm:extLst>
    </dgm:pt>
    <dgm:pt modelId="{6D975B36-AF66-4FB8-908A-77645D6EF336}" type="pres">
      <dgm:prSet presAssocID="{6AC5A0B2-1AAE-4119-9D3F-66F90BD5B21F}" presName="txShp" presStyleLbl="node1" presStyleIdx="1" presStyleCnt="5">
        <dgm:presLayoutVars>
          <dgm:bulletEnabled val="1"/>
        </dgm:presLayoutVars>
      </dgm:prSet>
      <dgm:spPr/>
    </dgm:pt>
    <dgm:pt modelId="{C569F98E-6B08-4EC8-9DD4-0906EBF842D3}" type="pres">
      <dgm:prSet presAssocID="{594855EE-A333-46EA-A868-9E983264895A}" presName="spacing" presStyleCnt="0"/>
      <dgm:spPr/>
    </dgm:pt>
    <dgm:pt modelId="{0464D591-5748-4C71-B2F6-3A15E3B53C66}" type="pres">
      <dgm:prSet presAssocID="{89696B5E-E94D-4457-91F3-DF3D39BB35AB}" presName="composite" presStyleCnt="0"/>
      <dgm:spPr/>
    </dgm:pt>
    <dgm:pt modelId="{D4DDC5BC-B30A-4630-A3E0-14AD40159E4A}" type="pres">
      <dgm:prSet presAssocID="{89696B5E-E94D-4457-91F3-DF3D39BB35AB}" presName="imgShp" presStyleLbl="fgImgPlac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pward trend with solid fill"/>
        </a:ext>
      </dgm:extLst>
    </dgm:pt>
    <dgm:pt modelId="{BCA0B102-4BBB-44A3-9B2C-4B7A57C83C82}" type="pres">
      <dgm:prSet presAssocID="{89696B5E-E94D-4457-91F3-DF3D39BB35AB}" presName="txShp" presStyleLbl="node1" presStyleIdx="2" presStyleCnt="5">
        <dgm:presLayoutVars>
          <dgm:bulletEnabled val="1"/>
        </dgm:presLayoutVars>
      </dgm:prSet>
      <dgm:spPr/>
    </dgm:pt>
    <dgm:pt modelId="{958B4127-9DD1-43B3-9299-F038C4587415}" type="pres">
      <dgm:prSet presAssocID="{C9F7C9A2-DC29-46D8-B219-F80B28BB069A}" presName="spacing" presStyleCnt="0"/>
      <dgm:spPr/>
    </dgm:pt>
    <dgm:pt modelId="{87F5E569-511F-40E2-80AA-52E08F8996FF}" type="pres">
      <dgm:prSet presAssocID="{3813C8A7-C237-4986-8FBA-7962F630BC49}" presName="composite" presStyleCnt="0"/>
      <dgm:spPr/>
    </dgm:pt>
    <dgm:pt modelId="{FD6BADF8-2506-4367-9D14-E8E83387D4C8}" type="pres">
      <dgm:prSet presAssocID="{3813C8A7-C237-4986-8FBA-7962F630BC49}" presName="imgShp" presStyleLbl="fgImgPlac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ody builder with solid fill"/>
        </a:ext>
      </dgm:extLst>
    </dgm:pt>
    <dgm:pt modelId="{CF245B60-1D94-443C-BCE6-A0B8E2A9A9FD}" type="pres">
      <dgm:prSet presAssocID="{3813C8A7-C237-4986-8FBA-7962F630BC49}" presName="txShp" presStyleLbl="node1" presStyleIdx="3" presStyleCnt="5">
        <dgm:presLayoutVars>
          <dgm:bulletEnabled val="1"/>
        </dgm:presLayoutVars>
      </dgm:prSet>
      <dgm:spPr/>
    </dgm:pt>
    <dgm:pt modelId="{6DD32897-DE9F-4BFC-A299-FECD6CC1207F}" type="pres">
      <dgm:prSet presAssocID="{F6F0BE3C-CB5D-4842-81FB-611FBEAA9A1F}" presName="spacing" presStyleCnt="0"/>
      <dgm:spPr/>
    </dgm:pt>
    <dgm:pt modelId="{83DAD0DA-EC72-47CD-846D-C2906F2FD1DA}" type="pres">
      <dgm:prSet presAssocID="{7DE203D4-FB44-4921-9374-282EAB430F73}" presName="composite" presStyleCnt="0"/>
      <dgm:spPr/>
    </dgm:pt>
    <dgm:pt modelId="{A8DBE558-2296-4B60-8D51-FEBA341ECC14}" type="pres">
      <dgm:prSet presAssocID="{7DE203D4-FB44-4921-9374-282EAB430F73}" presName="imgShp" presStyleLbl="fgImgPlac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Heart organ with solid fill"/>
        </a:ext>
      </dgm:extLst>
    </dgm:pt>
    <dgm:pt modelId="{4CB211B3-7BE3-4237-8C6F-98E310CA2D27}" type="pres">
      <dgm:prSet presAssocID="{7DE203D4-FB44-4921-9374-282EAB430F73}" presName="txShp" presStyleLbl="node1" presStyleIdx="4" presStyleCnt="5">
        <dgm:presLayoutVars>
          <dgm:bulletEnabled val="1"/>
        </dgm:presLayoutVars>
      </dgm:prSet>
      <dgm:spPr/>
    </dgm:pt>
  </dgm:ptLst>
  <dgm:cxnLst>
    <dgm:cxn modelId="{2438B405-DE45-4A1F-802E-C3E7D7494ABB}" srcId="{2E39F821-4152-4D57-B4D0-7E79007613C8}" destId="{6AC5A0B2-1AAE-4119-9D3F-66F90BD5B21F}" srcOrd="1" destOrd="0" parTransId="{49EB9768-9682-4192-8D4B-84E0C97C0960}" sibTransId="{594855EE-A333-46EA-A868-9E983264895A}"/>
    <dgm:cxn modelId="{DF85B616-9C3F-42DC-9609-9379C39DA801}" type="presOf" srcId="{7DE203D4-FB44-4921-9374-282EAB430F73}" destId="{4CB211B3-7BE3-4237-8C6F-98E310CA2D27}" srcOrd="0" destOrd="0" presId="urn:microsoft.com/office/officeart/2005/8/layout/vList3"/>
    <dgm:cxn modelId="{FDA7F527-6317-4C6B-8857-3CB4B9391A57}" srcId="{2E39F821-4152-4D57-B4D0-7E79007613C8}" destId="{3813C8A7-C237-4986-8FBA-7962F630BC49}" srcOrd="3" destOrd="0" parTransId="{CA51053C-E7CE-4BCF-BF1C-003B723EE7FE}" sibTransId="{F6F0BE3C-CB5D-4842-81FB-611FBEAA9A1F}"/>
    <dgm:cxn modelId="{84779A2E-22EF-466D-B7FD-7E6D1EB387B1}" srcId="{2E39F821-4152-4D57-B4D0-7E79007613C8}" destId="{7DE203D4-FB44-4921-9374-282EAB430F73}" srcOrd="4" destOrd="0" parTransId="{B1A5B4BC-D368-49FC-804E-0990D3F33362}" sibTransId="{D7087FA6-530F-4ECA-9B45-8792F9352E68}"/>
    <dgm:cxn modelId="{C68B2530-35E2-4189-A96C-3EBBECF98C5B}" type="presOf" srcId="{89696B5E-E94D-4457-91F3-DF3D39BB35AB}" destId="{BCA0B102-4BBB-44A3-9B2C-4B7A57C83C82}" srcOrd="0" destOrd="0" presId="urn:microsoft.com/office/officeart/2005/8/layout/vList3"/>
    <dgm:cxn modelId="{A932E840-301E-4729-BEB9-7FCABC1B66AC}" srcId="{2E39F821-4152-4D57-B4D0-7E79007613C8}" destId="{89696B5E-E94D-4457-91F3-DF3D39BB35AB}" srcOrd="2" destOrd="0" parTransId="{F07B9268-C610-4836-B727-DDDD6E15AC94}" sibTransId="{C9F7C9A2-DC29-46D8-B219-F80B28BB069A}"/>
    <dgm:cxn modelId="{65E6DD41-F23B-426D-8E28-CB8160FA475E}" srcId="{2E39F821-4152-4D57-B4D0-7E79007613C8}" destId="{3CE136E8-7805-4783-98B0-AE0B3633797F}" srcOrd="0" destOrd="0" parTransId="{68581DE0-414C-4420-85E4-81E5EAACBB9B}" sibTransId="{4165296A-D717-41E5-92B4-31470837F096}"/>
    <dgm:cxn modelId="{8B077F6A-42A1-46AE-9F1E-D35AC25CD59D}" type="presOf" srcId="{6AC5A0B2-1AAE-4119-9D3F-66F90BD5B21F}" destId="{6D975B36-AF66-4FB8-908A-77645D6EF336}" srcOrd="0" destOrd="0" presId="urn:microsoft.com/office/officeart/2005/8/layout/vList3"/>
    <dgm:cxn modelId="{0BD19C50-383C-471F-9DEB-74F9CC0A26DD}" type="presOf" srcId="{2E39F821-4152-4D57-B4D0-7E79007613C8}" destId="{635EA46E-885D-4B30-B92B-E79F986F7E01}" srcOrd="0" destOrd="0" presId="urn:microsoft.com/office/officeart/2005/8/layout/vList3"/>
    <dgm:cxn modelId="{4F68AE83-A34D-4EE8-9BEF-6002430B9E70}" type="presOf" srcId="{3813C8A7-C237-4986-8FBA-7962F630BC49}" destId="{CF245B60-1D94-443C-BCE6-A0B8E2A9A9FD}" srcOrd="0" destOrd="0" presId="urn:microsoft.com/office/officeart/2005/8/layout/vList3"/>
    <dgm:cxn modelId="{0B9208CD-8687-442D-A525-9B81F17E37FD}" type="presOf" srcId="{3CE136E8-7805-4783-98B0-AE0B3633797F}" destId="{900D739B-FC49-427C-91C4-822DBCC99712}" srcOrd="0" destOrd="0" presId="urn:microsoft.com/office/officeart/2005/8/layout/vList3"/>
    <dgm:cxn modelId="{E468A46A-81E2-49D2-B412-D8F1D1634AD9}" type="presParOf" srcId="{635EA46E-885D-4B30-B92B-E79F986F7E01}" destId="{D0331318-EBA5-448A-896B-2D7D7A860592}" srcOrd="0" destOrd="0" presId="urn:microsoft.com/office/officeart/2005/8/layout/vList3"/>
    <dgm:cxn modelId="{C11B2ADE-067B-4780-95A3-97ED446D33D4}" type="presParOf" srcId="{D0331318-EBA5-448A-896B-2D7D7A860592}" destId="{3D49A23A-FBF5-42CE-A156-F458995F8A08}" srcOrd="0" destOrd="0" presId="urn:microsoft.com/office/officeart/2005/8/layout/vList3"/>
    <dgm:cxn modelId="{67BE8129-BA05-470A-B00F-385C7FA45953}" type="presParOf" srcId="{D0331318-EBA5-448A-896B-2D7D7A860592}" destId="{900D739B-FC49-427C-91C4-822DBCC99712}" srcOrd="1" destOrd="0" presId="urn:microsoft.com/office/officeart/2005/8/layout/vList3"/>
    <dgm:cxn modelId="{EE4D249E-A988-4580-942B-F9BBDBBA3C95}" type="presParOf" srcId="{635EA46E-885D-4B30-B92B-E79F986F7E01}" destId="{AF2CD796-67DA-46AA-868C-5A8A5E0F0322}" srcOrd="1" destOrd="0" presId="urn:microsoft.com/office/officeart/2005/8/layout/vList3"/>
    <dgm:cxn modelId="{3191F817-11E8-448D-BFA0-C9B2B9693750}" type="presParOf" srcId="{635EA46E-885D-4B30-B92B-E79F986F7E01}" destId="{BDC79719-3FA8-4910-B5A4-6E7FC440615E}" srcOrd="2" destOrd="0" presId="urn:microsoft.com/office/officeart/2005/8/layout/vList3"/>
    <dgm:cxn modelId="{2ED74D22-30E3-444A-80C8-ED2C0B9C14DC}" type="presParOf" srcId="{BDC79719-3FA8-4910-B5A4-6E7FC440615E}" destId="{62111073-7017-40BB-943D-06CA4142E0DA}" srcOrd="0" destOrd="0" presId="urn:microsoft.com/office/officeart/2005/8/layout/vList3"/>
    <dgm:cxn modelId="{DEEF0CF5-1EC4-4383-86BA-9878C3737EEC}" type="presParOf" srcId="{BDC79719-3FA8-4910-B5A4-6E7FC440615E}" destId="{6D975B36-AF66-4FB8-908A-77645D6EF336}" srcOrd="1" destOrd="0" presId="urn:microsoft.com/office/officeart/2005/8/layout/vList3"/>
    <dgm:cxn modelId="{1710D9EB-F46B-4260-AC5E-FCBE917EA7E3}" type="presParOf" srcId="{635EA46E-885D-4B30-B92B-E79F986F7E01}" destId="{C569F98E-6B08-4EC8-9DD4-0906EBF842D3}" srcOrd="3" destOrd="0" presId="urn:microsoft.com/office/officeart/2005/8/layout/vList3"/>
    <dgm:cxn modelId="{D40F84BA-65AE-4940-8308-36A1E8A6E3EF}" type="presParOf" srcId="{635EA46E-885D-4B30-B92B-E79F986F7E01}" destId="{0464D591-5748-4C71-B2F6-3A15E3B53C66}" srcOrd="4" destOrd="0" presId="urn:microsoft.com/office/officeart/2005/8/layout/vList3"/>
    <dgm:cxn modelId="{5E1017E7-E788-4ED2-8AFD-FA1188395109}" type="presParOf" srcId="{0464D591-5748-4C71-B2F6-3A15E3B53C66}" destId="{D4DDC5BC-B30A-4630-A3E0-14AD40159E4A}" srcOrd="0" destOrd="0" presId="urn:microsoft.com/office/officeart/2005/8/layout/vList3"/>
    <dgm:cxn modelId="{E53DA813-FEB2-4DDB-9294-FB3D174B92AF}" type="presParOf" srcId="{0464D591-5748-4C71-B2F6-3A15E3B53C66}" destId="{BCA0B102-4BBB-44A3-9B2C-4B7A57C83C82}" srcOrd="1" destOrd="0" presId="urn:microsoft.com/office/officeart/2005/8/layout/vList3"/>
    <dgm:cxn modelId="{349B1FFA-41D9-4441-B58B-0DAE7F78B46D}" type="presParOf" srcId="{635EA46E-885D-4B30-B92B-E79F986F7E01}" destId="{958B4127-9DD1-43B3-9299-F038C4587415}" srcOrd="5" destOrd="0" presId="urn:microsoft.com/office/officeart/2005/8/layout/vList3"/>
    <dgm:cxn modelId="{00487996-DE8F-4763-8EF2-AB313144D3D7}" type="presParOf" srcId="{635EA46E-885D-4B30-B92B-E79F986F7E01}" destId="{87F5E569-511F-40E2-80AA-52E08F8996FF}" srcOrd="6" destOrd="0" presId="urn:microsoft.com/office/officeart/2005/8/layout/vList3"/>
    <dgm:cxn modelId="{C91C4FAC-D855-4CB5-8171-4606B0BA83B5}" type="presParOf" srcId="{87F5E569-511F-40E2-80AA-52E08F8996FF}" destId="{FD6BADF8-2506-4367-9D14-E8E83387D4C8}" srcOrd="0" destOrd="0" presId="urn:microsoft.com/office/officeart/2005/8/layout/vList3"/>
    <dgm:cxn modelId="{B00C75F1-4377-4A4C-B086-96B8993F81B8}" type="presParOf" srcId="{87F5E569-511F-40E2-80AA-52E08F8996FF}" destId="{CF245B60-1D94-443C-BCE6-A0B8E2A9A9FD}" srcOrd="1" destOrd="0" presId="urn:microsoft.com/office/officeart/2005/8/layout/vList3"/>
    <dgm:cxn modelId="{1D9E6B64-38CF-4BD1-8E98-3EBD161552FC}" type="presParOf" srcId="{635EA46E-885D-4B30-B92B-E79F986F7E01}" destId="{6DD32897-DE9F-4BFC-A299-FECD6CC1207F}" srcOrd="7" destOrd="0" presId="urn:microsoft.com/office/officeart/2005/8/layout/vList3"/>
    <dgm:cxn modelId="{679FA7BA-1EAA-4987-93FE-79297A62CA84}" type="presParOf" srcId="{635EA46E-885D-4B30-B92B-E79F986F7E01}" destId="{83DAD0DA-EC72-47CD-846D-C2906F2FD1DA}" srcOrd="8" destOrd="0" presId="urn:microsoft.com/office/officeart/2005/8/layout/vList3"/>
    <dgm:cxn modelId="{24FE2EDB-C466-42DE-AB1A-409CCC5D78D5}" type="presParOf" srcId="{83DAD0DA-EC72-47CD-846D-C2906F2FD1DA}" destId="{A8DBE558-2296-4B60-8D51-FEBA341ECC14}" srcOrd="0" destOrd="0" presId="urn:microsoft.com/office/officeart/2005/8/layout/vList3"/>
    <dgm:cxn modelId="{D7216159-7562-4B7C-914C-225CB9A94D32}" type="presParOf" srcId="{83DAD0DA-EC72-47CD-846D-C2906F2FD1DA}" destId="{4CB211B3-7BE3-4237-8C6F-98E310CA2D27}"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6A78C-DBE1-4203-8EE5-9CA4AE436FC2}">
      <dsp:nvSpPr>
        <dsp:cNvPr id="0" name=""/>
        <dsp:cNvSpPr/>
      </dsp:nvSpPr>
      <dsp:spPr>
        <a:xfrm>
          <a:off x="300259" y="907576"/>
          <a:ext cx="928582" cy="92858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A25054-D274-4684-8068-7ECBC9141ED3}">
      <dsp:nvSpPr>
        <dsp:cNvPr id="0" name=""/>
        <dsp:cNvSpPr/>
      </dsp:nvSpPr>
      <dsp:spPr>
        <a:xfrm>
          <a:off x="498154" y="1105470"/>
          <a:ext cx="532792" cy="5327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F04FA3-1618-4611-90A7-0CD03C3D5134}">
      <dsp:nvSpPr>
        <dsp:cNvPr id="0" name=""/>
        <dsp:cNvSpPr/>
      </dsp:nvSpPr>
      <dsp:spPr>
        <a:xfrm>
          <a:off x="3417" y="2125388"/>
          <a:ext cx="1522265" cy="608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1" u="none" kern="1200" dirty="0">
              <a:solidFill>
                <a:schemeClr val="tx1"/>
              </a:solidFill>
            </a:rPr>
            <a:t>Introduction</a:t>
          </a:r>
        </a:p>
      </dsp:txBody>
      <dsp:txXfrm>
        <a:off x="3417" y="2125388"/>
        <a:ext cx="1522265" cy="608906"/>
      </dsp:txXfrm>
    </dsp:sp>
    <dsp:sp modelId="{BAA2AC98-07B4-4482-AC2D-B8D4B9B492CE}">
      <dsp:nvSpPr>
        <dsp:cNvPr id="0" name=""/>
        <dsp:cNvSpPr/>
      </dsp:nvSpPr>
      <dsp:spPr>
        <a:xfrm>
          <a:off x="2088921" y="907576"/>
          <a:ext cx="928582" cy="92858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BE55BE-256F-4262-8CB6-72E54C3D4C18}">
      <dsp:nvSpPr>
        <dsp:cNvPr id="0" name=""/>
        <dsp:cNvSpPr/>
      </dsp:nvSpPr>
      <dsp:spPr>
        <a:xfrm>
          <a:off x="2286816" y="1105470"/>
          <a:ext cx="532792" cy="53279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636535-90BC-40F3-A0B6-BCC8BC1EB09B}">
      <dsp:nvSpPr>
        <dsp:cNvPr id="0" name=""/>
        <dsp:cNvSpPr/>
      </dsp:nvSpPr>
      <dsp:spPr>
        <a:xfrm>
          <a:off x="1792080" y="2125388"/>
          <a:ext cx="1522265" cy="608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1" u="none" kern="1200">
              <a:solidFill>
                <a:schemeClr val="tx1"/>
              </a:solidFill>
            </a:rPr>
            <a:t>Workflow process</a:t>
          </a:r>
        </a:p>
      </dsp:txBody>
      <dsp:txXfrm>
        <a:off x="1792080" y="2125388"/>
        <a:ext cx="1522265" cy="608906"/>
      </dsp:txXfrm>
    </dsp:sp>
    <dsp:sp modelId="{55044F2C-83D4-479B-9557-B7435CF352B2}">
      <dsp:nvSpPr>
        <dsp:cNvPr id="0" name=""/>
        <dsp:cNvSpPr/>
      </dsp:nvSpPr>
      <dsp:spPr>
        <a:xfrm>
          <a:off x="3877583" y="907576"/>
          <a:ext cx="928582" cy="92858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DA3EEB-2959-44FE-AD24-0032A2D9D9D0}">
      <dsp:nvSpPr>
        <dsp:cNvPr id="0" name=""/>
        <dsp:cNvSpPr/>
      </dsp:nvSpPr>
      <dsp:spPr>
        <a:xfrm>
          <a:off x="4075478" y="1105470"/>
          <a:ext cx="532792" cy="53279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ED6147-35CE-449D-A814-9D95814B85CB}">
      <dsp:nvSpPr>
        <dsp:cNvPr id="0" name=""/>
        <dsp:cNvSpPr/>
      </dsp:nvSpPr>
      <dsp:spPr>
        <a:xfrm>
          <a:off x="3580742" y="2125388"/>
          <a:ext cx="1522265" cy="608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1" u="none" kern="1200">
              <a:solidFill>
                <a:schemeClr val="tx1"/>
              </a:solidFill>
            </a:rPr>
            <a:t>Data Overview</a:t>
          </a:r>
        </a:p>
      </dsp:txBody>
      <dsp:txXfrm>
        <a:off x="3580742" y="2125388"/>
        <a:ext cx="1522265" cy="608906"/>
      </dsp:txXfrm>
    </dsp:sp>
    <dsp:sp modelId="{909C6195-8C56-4A12-A143-A62E77D56B70}">
      <dsp:nvSpPr>
        <dsp:cNvPr id="0" name=""/>
        <dsp:cNvSpPr/>
      </dsp:nvSpPr>
      <dsp:spPr>
        <a:xfrm>
          <a:off x="5666246" y="907576"/>
          <a:ext cx="928582" cy="92858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42AA94-8234-4AFC-B2E7-A8231EBC5D61}">
      <dsp:nvSpPr>
        <dsp:cNvPr id="0" name=""/>
        <dsp:cNvSpPr/>
      </dsp:nvSpPr>
      <dsp:spPr>
        <a:xfrm>
          <a:off x="5864140" y="1105470"/>
          <a:ext cx="532792" cy="5327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C79D51-A329-4CEB-8FDB-A921E8D3AE65}">
      <dsp:nvSpPr>
        <dsp:cNvPr id="0" name=""/>
        <dsp:cNvSpPr/>
      </dsp:nvSpPr>
      <dsp:spPr>
        <a:xfrm>
          <a:off x="5369404" y="2125388"/>
          <a:ext cx="1522265" cy="608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1" u="none" kern="1200">
              <a:solidFill>
                <a:schemeClr val="tx1"/>
              </a:solidFill>
            </a:rPr>
            <a:t>SMART QUESTION</a:t>
          </a:r>
        </a:p>
      </dsp:txBody>
      <dsp:txXfrm>
        <a:off x="5369404" y="2125388"/>
        <a:ext cx="1522265" cy="608906"/>
      </dsp:txXfrm>
    </dsp:sp>
    <dsp:sp modelId="{C40AF3C9-04D7-41C8-AE6E-ECA421CE6CE0}">
      <dsp:nvSpPr>
        <dsp:cNvPr id="0" name=""/>
        <dsp:cNvSpPr/>
      </dsp:nvSpPr>
      <dsp:spPr>
        <a:xfrm>
          <a:off x="7454908" y="907576"/>
          <a:ext cx="928582" cy="92858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B3DC14-661D-42BF-AB45-F9FED1BE4A95}">
      <dsp:nvSpPr>
        <dsp:cNvPr id="0" name=""/>
        <dsp:cNvSpPr/>
      </dsp:nvSpPr>
      <dsp:spPr>
        <a:xfrm>
          <a:off x="7652802" y="1105470"/>
          <a:ext cx="532792" cy="532792"/>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08F2B-9E63-4AA0-8724-31157732C90B}">
      <dsp:nvSpPr>
        <dsp:cNvPr id="0" name=""/>
        <dsp:cNvSpPr/>
      </dsp:nvSpPr>
      <dsp:spPr>
        <a:xfrm>
          <a:off x="7158066" y="2125388"/>
          <a:ext cx="1522265" cy="608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1" u="none" kern="1200">
              <a:solidFill>
                <a:schemeClr val="tx1"/>
              </a:solidFill>
            </a:rPr>
            <a:t>Analysis test</a:t>
          </a:r>
        </a:p>
      </dsp:txBody>
      <dsp:txXfrm>
        <a:off x="7158066" y="2125388"/>
        <a:ext cx="1522265" cy="608906"/>
      </dsp:txXfrm>
    </dsp:sp>
    <dsp:sp modelId="{DA725F30-B103-4B49-9019-8ACC54FE079A}">
      <dsp:nvSpPr>
        <dsp:cNvPr id="0" name=""/>
        <dsp:cNvSpPr/>
      </dsp:nvSpPr>
      <dsp:spPr>
        <a:xfrm>
          <a:off x="9243570" y="907576"/>
          <a:ext cx="928582" cy="92858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15732E-3F6B-4EE5-A251-0DDA3BC7B294}">
      <dsp:nvSpPr>
        <dsp:cNvPr id="0" name=""/>
        <dsp:cNvSpPr/>
      </dsp:nvSpPr>
      <dsp:spPr>
        <a:xfrm>
          <a:off x="9441464" y="1105470"/>
          <a:ext cx="532792" cy="53279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998A72-4481-4B3E-AFA5-CB7E79284DA0}">
      <dsp:nvSpPr>
        <dsp:cNvPr id="0" name=""/>
        <dsp:cNvSpPr/>
      </dsp:nvSpPr>
      <dsp:spPr>
        <a:xfrm>
          <a:off x="8946728" y="2125388"/>
          <a:ext cx="1522265" cy="608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1" u="none" kern="1200">
              <a:solidFill>
                <a:schemeClr val="tx1"/>
              </a:solidFill>
            </a:rPr>
            <a:t>Conclusion</a:t>
          </a:r>
        </a:p>
      </dsp:txBody>
      <dsp:txXfrm>
        <a:off x="8946728" y="2125388"/>
        <a:ext cx="1522265" cy="6089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0304F-5ED0-4A03-AFC6-0BE3641B009D}">
      <dsp:nvSpPr>
        <dsp:cNvPr id="0" name=""/>
        <dsp:cNvSpPr/>
      </dsp:nvSpPr>
      <dsp:spPr>
        <a:xfrm>
          <a:off x="0" y="1673"/>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12962C-04DA-452B-B3D6-8D19D1DAA8CD}">
      <dsp:nvSpPr>
        <dsp:cNvPr id="0" name=""/>
        <dsp:cNvSpPr/>
      </dsp:nvSpPr>
      <dsp:spPr>
        <a:xfrm>
          <a:off x="256592" y="192527"/>
          <a:ext cx="466532" cy="4665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D31817-848A-41C6-85DE-5059FFD16394}">
      <dsp:nvSpPr>
        <dsp:cNvPr id="0" name=""/>
        <dsp:cNvSpPr/>
      </dsp:nvSpPr>
      <dsp:spPr>
        <a:xfrm>
          <a:off x="979717" y="1673"/>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This project investigates the relationship between lifestyle factors, health metrics, and the diagnosis of Coronary Heart Disease (CHD).</a:t>
          </a:r>
        </a:p>
      </dsp:txBody>
      <dsp:txXfrm>
        <a:off x="979717" y="1673"/>
        <a:ext cx="7377137" cy="848240"/>
      </dsp:txXfrm>
    </dsp:sp>
    <dsp:sp modelId="{3ADCAA36-0D0D-4F38-9530-42A3A2FAC09F}">
      <dsp:nvSpPr>
        <dsp:cNvPr id="0" name=""/>
        <dsp:cNvSpPr/>
      </dsp:nvSpPr>
      <dsp:spPr>
        <a:xfrm>
          <a:off x="0" y="1061973"/>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2F87E8-F3C5-4D40-83D8-BCB2219AF24D}">
      <dsp:nvSpPr>
        <dsp:cNvPr id="0" name=""/>
        <dsp:cNvSpPr/>
      </dsp:nvSpPr>
      <dsp:spPr>
        <a:xfrm>
          <a:off x="256592" y="1252827"/>
          <a:ext cx="466532" cy="4665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869C13-6386-498F-A261-A29723BE15CB}">
      <dsp:nvSpPr>
        <dsp:cNvPr id="0" name=""/>
        <dsp:cNvSpPr/>
      </dsp:nvSpPr>
      <dsp:spPr>
        <a:xfrm>
          <a:off x="979717" y="1061973"/>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analysis uses robust statistical methods, including T-tests, Chi-square tests, and ANOVA, to answer</a:t>
          </a:r>
          <a:r>
            <a:rPr lang="en-US" sz="1400" kern="1200" dirty="0">
              <a:latin typeface="Avenir Next LT Pro"/>
            </a:rPr>
            <a:t> SMART </a:t>
          </a:r>
          <a:r>
            <a:rPr lang="en-US" sz="1400" kern="1200" dirty="0"/>
            <a:t>questions.</a:t>
          </a:r>
        </a:p>
      </dsp:txBody>
      <dsp:txXfrm>
        <a:off x="979717" y="1061973"/>
        <a:ext cx="7377137" cy="848240"/>
      </dsp:txXfrm>
    </dsp:sp>
    <dsp:sp modelId="{2A641AD0-CCB8-433E-B9D0-5EA08BE521DC}">
      <dsp:nvSpPr>
        <dsp:cNvPr id="0" name=""/>
        <dsp:cNvSpPr/>
      </dsp:nvSpPr>
      <dsp:spPr>
        <a:xfrm>
          <a:off x="0" y="2122274"/>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0B611-D930-4ADB-8B09-473FAC0ABAAF}">
      <dsp:nvSpPr>
        <dsp:cNvPr id="0" name=""/>
        <dsp:cNvSpPr/>
      </dsp:nvSpPr>
      <dsp:spPr>
        <a:xfrm>
          <a:off x="256592" y="2313128"/>
          <a:ext cx="466532" cy="4665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D33F4-DFF3-48FB-BF89-A6EF862AA172}">
      <dsp:nvSpPr>
        <dsp:cNvPr id="0" name=""/>
        <dsp:cNvSpPr/>
      </dsp:nvSpPr>
      <dsp:spPr>
        <a:xfrm>
          <a:off x="979717" y="2122274"/>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dataset was obtained from the CDC's Behavioral Risk Factor Surveillance System (BRFSS) 2024 annual data, which is publicly available at this link: </a:t>
          </a:r>
          <a:r>
            <a:rPr lang="en-US" sz="1400" kern="1200" dirty="0">
              <a:hlinkClick xmlns:r="http://schemas.openxmlformats.org/officeDocument/2006/relationships" r:id="rId7"/>
            </a:rPr>
            <a:t>Behavioral Risk Factor Survelliance System</a:t>
          </a:r>
          <a:endParaRPr lang="en-US" sz="1400" kern="1200" dirty="0"/>
        </a:p>
      </dsp:txBody>
      <dsp:txXfrm>
        <a:off x="979717" y="2122274"/>
        <a:ext cx="7377137" cy="848240"/>
      </dsp:txXfrm>
    </dsp:sp>
    <dsp:sp modelId="{C7FC2A9F-4BA8-421C-B72A-1A961C7362F7}">
      <dsp:nvSpPr>
        <dsp:cNvPr id="0" name=""/>
        <dsp:cNvSpPr/>
      </dsp:nvSpPr>
      <dsp:spPr>
        <a:xfrm>
          <a:off x="0" y="3182574"/>
          <a:ext cx="8356855" cy="84824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B3C6EC-C417-4DE0-8F54-7F8B750E1223}">
      <dsp:nvSpPr>
        <dsp:cNvPr id="0" name=""/>
        <dsp:cNvSpPr/>
      </dsp:nvSpPr>
      <dsp:spPr>
        <a:xfrm>
          <a:off x="256592" y="3373428"/>
          <a:ext cx="466532" cy="466532"/>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599309-80EE-4BD1-B0FC-5F31B1F37A73}">
      <dsp:nvSpPr>
        <dsp:cNvPr id="0" name=""/>
        <dsp:cNvSpPr/>
      </dsp:nvSpPr>
      <dsp:spPr>
        <a:xfrm>
          <a:off x="979717" y="3182574"/>
          <a:ext cx="7377137" cy="84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772" tIns="89772" rIns="89772" bIns="89772" numCol="1" spcCol="1270" anchor="ctr" anchorCtr="0">
          <a:noAutofit/>
        </a:bodyPr>
        <a:lstStyle/>
        <a:p>
          <a:pPr marL="0" lvl="0" indent="0" algn="l" defTabSz="622300">
            <a:lnSpc>
              <a:spcPct val="100000"/>
            </a:lnSpc>
            <a:spcBef>
              <a:spcPct val="0"/>
            </a:spcBef>
            <a:spcAft>
              <a:spcPct val="35000"/>
            </a:spcAft>
            <a:buNone/>
          </a:pPr>
          <a:r>
            <a:rPr lang="en-US" sz="1400" kern="1200" dirty="0"/>
            <a:t>The goal is to provide evidence-based insights that can support public health strategies to mitigate CHD risk factors.</a:t>
          </a:r>
        </a:p>
      </dsp:txBody>
      <dsp:txXfrm>
        <a:off x="979717" y="3182574"/>
        <a:ext cx="7377137" cy="848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90DAF6-F26C-4560-9499-B1E7D8F1C384}">
      <dsp:nvSpPr>
        <dsp:cNvPr id="0" name=""/>
        <dsp:cNvSpPr/>
      </dsp:nvSpPr>
      <dsp:spPr>
        <a:xfrm>
          <a:off x="5479" y="76829"/>
          <a:ext cx="1637785" cy="9826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Avenir Next LT Pro"/>
            </a:rPr>
            <a:t>RAW DATA IMPORT FROM US CDC WEBSITE</a:t>
          </a:r>
        </a:p>
      </dsp:txBody>
      <dsp:txXfrm>
        <a:off x="34260" y="105610"/>
        <a:ext cx="1580223" cy="925109"/>
      </dsp:txXfrm>
    </dsp:sp>
    <dsp:sp modelId="{39F5E749-A91C-4024-93A2-7864BD6435B0}">
      <dsp:nvSpPr>
        <dsp:cNvPr id="0" name=""/>
        <dsp:cNvSpPr/>
      </dsp:nvSpPr>
      <dsp:spPr>
        <a:xfrm>
          <a:off x="1787390" y="365079"/>
          <a:ext cx="347210" cy="40617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87390" y="446313"/>
        <a:ext cx="243047" cy="243702"/>
      </dsp:txXfrm>
    </dsp:sp>
    <dsp:sp modelId="{E3227B89-A20D-48C7-9AB1-78CF35460B41}">
      <dsp:nvSpPr>
        <dsp:cNvPr id="0" name=""/>
        <dsp:cNvSpPr/>
      </dsp:nvSpPr>
      <dsp:spPr>
        <a:xfrm>
          <a:off x="2298379" y="76829"/>
          <a:ext cx="1637785" cy="9826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Avenir Next LT Pro"/>
            </a:rPr>
            <a:t>TRANSFORM DATA INTO READABLE CSV FORMAT</a:t>
          </a:r>
          <a:endParaRPr lang="en-US" sz="1200" b="1" kern="1200"/>
        </a:p>
      </dsp:txBody>
      <dsp:txXfrm>
        <a:off x="2327160" y="105610"/>
        <a:ext cx="1580223" cy="925109"/>
      </dsp:txXfrm>
    </dsp:sp>
    <dsp:sp modelId="{E516F1FC-CCB8-4625-941B-FB749F99296D}">
      <dsp:nvSpPr>
        <dsp:cNvPr id="0" name=""/>
        <dsp:cNvSpPr/>
      </dsp:nvSpPr>
      <dsp:spPr>
        <a:xfrm>
          <a:off x="4080289" y="365079"/>
          <a:ext cx="347210" cy="40617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080289" y="446313"/>
        <a:ext cx="243047" cy="243702"/>
      </dsp:txXfrm>
    </dsp:sp>
    <dsp:sp modelId="{45B5298D-AA0E-4BA6-A26C-8D0F3BA8997A}">
      <dsp:nvSpPr>
        <dsp:cNvPr id="0" name=""/>
        <dsp:cNvSpPr/>
      </dsp:nvSpPr>
      <dsp:spPr>
        <a:xfrm>
          <a:off x="4591278" y="76829"/>
          <a:ext cx="1637785" cy="9826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Avenir Next LT Pro"/>
            </a:rPr>
            <a:t>CLEAN &amp; FILTER DATA FOR EDA</a:t>
          </a:r>
          <a:endParaRPr lang="en-US" sz="1200" b="1" kern="1200"/>
        </a:p>
      </dsp:txBody>
      <dsp:txXfrm>
        <a:off x="4620059" y="105610"/>
        <a:ext cx="1580223" cy="925109"/>
      </dsp:txXfrm>
    </dsp:sp>
    <dsp:sp modelId="{B3222FBD-C714-4187-AD1C-A8C2188F6833}">
      <dsp:nvSpPr>
        <dsp:cNvPr id="0" name=""/>
        <dsp:cNvSpPr/>
      </dsp:nvSpPr>
      <dsp:spPr>
        <a:xfrm rot="5400000">
          <a:off x="5236566" y="1174145"/>
          <a:ext cx="347210" cy="40617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5288321" y="1203625"/>
        <a:ext cx="243702" cy="243047"/>
      </dsp:txXfrm>
    </dsp:sp>
    <dsp:sp modelId="{1C553BEC-461F-4684-A9B8-946413992077}">
      <dsp:nvSpPr>
        <dsp:cNvPr id="0" name=""/>
        <dsp:cNvSpPr/>
      </dsp:nvSpPr>
      <dsp:spPr>
        <a:xfrm>
          <a:off x="4591278" y="1714614"/>
          <a:ext cx="1637785" cy="9826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Avenir Next LT Pro"/>
            </a:rPr>
            <a:t>CHECK DATA INTEGRITY &amp; NORMALITY DISTRIBUTION</a:t>
          </a:r>
          <a:endParaRPr lang="en-US" sz="1200" b="1" kern="1200"/>
        </a:p>
      </dsp:txBody>
      <dsp:txXfrm>
        <a:off x="4620059" y="1743395"/>
        <a:ext cx="1580223" cy="925109"/>
      </dsp:txXfrm>
    </dsp:sp>
    <dsp:sp modelId="{B2909D40-D087-40F2-891A-6205000782D5}">
      <dsp:nvSpPr>
        <dsp:cNvPr id="0" name=""/>
        <dsp:cNvSpPr/>
      </dsp:nvSpPr>
      <dsp:spPr>
        <a:xfrm rot="10800000">
          <a:off x="4099943" y="2002865"/>
          <a:ext cx="347210" cy="40617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4204106" y="2084099"/>
        <a:ext cx="243047" cy="243702"/>
      </dsp:txXfrm>
    </dsp:sp>
    <dsp:sp modelId="{EC9D4286-A0E5-415B-867A-CCACABB7AA5A}">
      <dsp:nvSpPr>
        <dsp:cNvPr id="0" name=""/>
        <dsp:cNvSpPr/>
      </dsp:nvSpPr>
      <dsp:spPr>
        <a:xfrm>
          <a:off x="2298379" y="1714614"/>
          <a:ext cx="1637785" cy="9826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Avenir Next LT Pro"/>
            </a:rPr>
            <a:t>GRAPHICAL ANALYSIS (HISTROGRAMS, QQPLOT, GGPLOT, </a:t>
          </a:r>
          <a:r>
            <a:rPr lang="en-US" sz="1200" b="1" kern="1200" err="1">
              <a:latin typeface="Avenir Next LT Pro"/>
            </a:rPr>
            <a:t>Etc</a:t>
          </a:r>
          <a:r>
            <a:rPr lang="en-US" sz="1200" b="1" kern="1200">
              <a:latin typeface="Avenir Next LT Pro"/>
            </a:rPr>
            <a:t>)</a:t>
          </a:r>
          <a:endParaRPr lang="en-US" sz="1200" b="1" kern="1200"/>
        </a:p>
      </dsp:txBody>
      <dsp:txXfrm>
        <a:off x="2327160" y="1743395"/>
        <a:ext cx="1580223" cy="925109"/>
      </dsp:txXfrm>
    </dsp:sp>
    <dsp:sp modelId="{456AAC9A-BCB9-4C7C-987D-65B7151864C8}">
      <dsp:nvSpPr>
        <dsp:cNvPr id="0" name=""/>
        <dsp:cNvSpPr/>
      </dsp:nvSpPr>
      <dsp:spPr>
        <a:xfrm rot="10800000">
          <a:off x="1807043" y="2002865"/>
          <a:ext cx="347210" cy="40617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1911206" y="2084099"/>
        <a:ext cx="243047" cy="243702"/>
      </dsp:txXfrm>
    </dsp:sp>
    <dsp:sp modelId="{A53B113D-AB20-4197-A94A-9D1D7A22ACDD}">
      <dsp:nvSpPr>
        <dsp:cNvPr id="0" name=""/>
        <dsp:cNvSpPr/>
      </dsp:nvSpPr>
      <dsp:spPr>
        <a:xfrm>
          <a:off x="5479" y="1714614"/>
          <a:ext cx="1637785" cy="9826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Avenir Next LT Pro"/>
            </a:rPr>
            <a:t>HYPOTHENISIS TESTING (T-TEST, Z-TEST, CHI-TEST, ANOVA)</a:t>
          </a:r>
          <a:endParaRPr lang="en-US" sz="1200" b="1" kern="1200"/>
        </a:p>
      </dsp:txBody>
      <dsp:txXfrm>
        <a:off x="34260" y="1743395"/>
        <a:ext cx="1580223" cy="925109"/>
      </dsp:txXfrm>
    </dsp:sp>
    <dsp:sp modelId="{3BF58CED-7A22-404C-B6E2-ABC124A3EC51}">
      <dsp:nvSpPr>
        <dsp:cNvPr id="0" name=""/>
        <dsp:cNvSpPr/>
      </dsp:nvSpPr>
      <dsp:spPr>
        <a:xfrm rot="5400000">
          <a:off x="650767" y="2811931"/>
          <a:ext cx="347210" cy="406170"/>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702522" y="2841411"/>
        <a:ext cx="243702" cy="243047"/>
      </dsp:txXfrm>
    </dsp:sp>
    <dsp:sp modelId="{0D90801E-C5E0-44E9-8BA3-D8345E51B55C}">
      <dsp:nvSpPr>
        <dsp:cNvPr id="0" name=""/>
        <dsp:cNvSpPr/>
      </dsp:nvSpPr>
      <dsp:spPr>
        <a:xfrm>
          <a:off x="5479" y="3352400"/>
          <a:ext cx="1637785" cy="98267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1" kern="1200">
              <a:latin typeface="Avenir Next LT Pro"/>
            </a:rPr>
            <a:t>SUMMARIZE RESULTS AND CONCLUDE MEDICAL FACTORS PREDICTION </a:t>
          </a:r>
          <a:endParaRPr lang="en-US" sz="1200" b="1" kern="1200"/>
        </a:p>
      </dsp:txBody>
      <dsp:txXfrm>
        <a:off x="34260" y="3381181"/>
        <a:ext cx="1580223" cy="9251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A55EAF-EB05-4254-ABFE-9E256048639B}">
      <dsp:nvSpPr>
        <dsp:cNvPr id="0" name=""/>
        <dsp:cNvSpPr/>
      </dsp:nvSpPr>
      <dsp:spPr>
        <a:xfrm>
          <a:off x="2403" y="3402476"/>
          <a:ext cx="2138833" cy="85553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rtl="0">
            <a:lnSpc>
              <a:spcPct val="90000"/>
            </a:lnSpc>
            <a:spcBef>
              <a:spcPct val="0"/>
            </a:spcBef>
            <a:spcAft>
              <a:spcPct val="35000"/>
            </a:spcAft>
            <a:buNone/>
          </a:pPr>
          <a:r>
            <a:rPr lang="en-US" sz="900" kern="1200">
              <a:latin typeface="Avenir Next LT Pro"/>
            </a:rPr>
            <a:t>Download raw data file from CDC</a:t>
          </a:r>
          <a:r>
            <a:rPr lang="en-US" sz="900" kern="1200"/>
            <a:t> Portal (.</a:t>
          </a:r>
          <a:r>
            <a:rPr lang="en-US" sz="900" kern="1200" err="1"/>
            <a:t>xpt</a:t>
          </a:r>
          <a:r>
            <a:rPr lang="en-US" sz="900" kern="1200"/>
            <a:t> file) SASS</a:t>
          </a:r>
        </a:p>
      </dsp:txBody>
      <dsp:txXfrm>
        <a:off x="430170" y="3402476"/>
        <a:ext cx="1283300" cy="855533"/>
      </dsp:txXfrm>
    </dsp:sp>
    <dsp:sp modelId="{12493EBF-E2B3-45DF-81E2-F995F28E2FB4}">
      <dsp:nvSpPr>
        <dsp:cNvPr id="0" name=""/>
        <dsp:cNvSpPr/>
      </dsp:nvSpPr>
      <dsp:spPr>
        <a:xfrm>
          <a:off x="1927353" y="3402476"/>
          <a:ext cx="2138833" cy="85553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rtl="0">
            <a:lnSpc>
              <a:spcPct val="90000"/>
            </a:lnSpc>
            <a:spcBef>
              <a:spcPct val="0"/>
            </a:spcBef>
            <a:spcAft>
              <a:spcPct val="35000"/>
            </a:spcAft>
            <a:buNone/>
          </a:pPr>
          <a:r>
            <a:rPr lang="en-US" sz="900" kern="1200">
              <a:latin typeface="Avenir Next LT Pro"/>
            </a:rPr>
            <a:t>Analyse Codebook</a:t>
          </a:r>
          <a:r>
            <a:rPr lang="en-US" sz="900" kern="1200"/>
            <a:t> </a:t>
          </a:r>
          <a:r>
            <a:rPr lang="en-US" sz="900" kern="1200">
              <a:latin typeface="Avenir Next LT Pro"/>
            </a:rPr>
            <a:t>Documentation </a:t>
          </a:r>
          <a:r>
            <a:rPr lang="en-US" sz="900" kern="1200"/>
            <a:t>(</a:t>
          </a:r>
          <a:r>
            <a:rPr lang="en-US" sz="900" kern="1200">
              <a:latin typeface="Avenir Next LT Pro"/>
            </a:rPr>
            <a:t>CDC</a:t>
          </a:r>
          <a:r>
            <a:rPr lang="en-US" sz="900" kern="1200"/>
            <a:t> website)</a:t>
          </a:r>
          <a:r>
            <a:rPr lang="en-US" sz="900" kern="1200">
              <a:latin typeface="Avenir Next LT Pro"/>
            </a:rPr>
            <a:t> for specific variables mapping definition </a:t>
          </a:r>
          <a:endParaRPr lang="en-US" sz="900" kern="1200"/>
        </a:p>
      </dsp:txBody>
      <dsp:txXfrm>
        <a:off x="2355120" y="3402476"/>
        <a:ext cx="1283300" cy="855533"/>
      </dsp:txXfrm>
    </dsp:sp>
    <dsp:sp modelId="{DF2C2A15-EC24-4E39-94AD-6EBAB6BF2033}">
      <dsp:nvSpPr>
        <dsp:cNvPr id="0" name=""/>
        <dsp:cNvSpPr/>
      </dsp:nvSpPr>
      <dsp:spPr>
        <a:xfrm>
          <a:off x="3852303" y="3402476"/>
          <a:ext cx="2138833" cy="85553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rtl="0">
            <a:lnSpc>
              <a:spcPct val="90000"/>
            </a:lnSpc>
            <a:spcBef>
              <a:spcPct val="0"/>
            </a:spcBef>
            <a:spcAft>
              <a:spcPct val="35000"/>
            </a:spcAft>
            <a:buNone/>
          </a:pPr>
          <a:r>
            <a:rPr lang="en-US" sz="900" kern="1200">
              <a:latin typeface="Avenir Next LT Pro"/>
            </a:rPr>
            <a:t>Create a python script to read</a:t>
          </a:r>
          <a:r>
            <a:rPr lang="en-US" sz="900" kern="1200"/>
            <a:t> the sass file and generate the table data in .csv file</a:t>
          </a:r>
          <a:r>
            <a:rPr lang="en-US" sz="900" kern="1200">
              <a:latin typeface="Avenir Next LT Pro"/>
            </a:rPr>
            <a:t> format</a:t>
          </a:r>
          <a:endParaRPr lang="en-US" sz="900" kern="1200"/>
        </a:p>
      </dsp:txBody>
      <dsp:txXfrm>
        <a:off x="4280070" y="3402476"/>
        <a:ext cx="1283300" cy="855533"/>
      </dsp:txXfrm>
    </dsp:sp>
    <dsp:sp modelId="{1241CEDE-B51D-4E19-ADF9-198F0C704839}">
      <dsp:nvSpPr>
        <dsp:cNvPr id="0" name=""/>
        <dsp:cNvSpPr/>
      </dsp:nvSpPr>
      <dsp:spPr>
        <a:xfrm>
          <a:off x="5777253" y="3402476"/>
          <a:ext cx="2138833" cy="85553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rtl="0">
            <a:lnSpc>
              <a:spcPct val="90000"/>
            </a:lnSpc>
            <a:spcBef>
              <a:spcPct val="0"/>
            </a:spcBef>
            <a:spcAft>
              <a:spcPct val="35000"/>
            </a:spcAft>
            <a:buNone/>
          </a:pPr>
          <a:r>
            <a:rPr lang="en-US" sz="900" kern="1200"/>
            <a:t>Data load in </a:t>
          </a:r>
          <a:r>
            <a:rPr lang="en-US" sz="900" kern="1200" err="1"/>
            <a:t>rmd</a:t>
          </a:r>
          <a:r>
            <a:rPr lang="en-US" sz="900" kern="1200"/>
            <a:t> file with just the required column variables data for our EDA Analysis</a:t>
          </a:r>
          <a:endParaRPr lang="en-US" sz="900" kern="1200">
            <a:latin typeface="Avenir Next LT Pro"/>
          </a:endParaRPr>
        </a:p>
      </dsp:txBody>
      <dsp:txXfrm>
        <a:off x="6205020" y="3402476"/>
        <a:ext cx="1283300" cy="855533"/>
      </dsp:txXfrm>
    </dsp:sp>
    <dsp:sp modelId="{6AB2921E-BA93-4F9F-BEFB-88CBF2811840}">
      <dsp:nvSpPr>
        <dsp:cNvPr id="0" name=""/>
        <dsp:cNvSpPr/>
      </dsp:nvSpPr>
      <dsp:spPr>
        <a:xfrm>
          <a:off x="7702203" y="3402476"/>
          <a:ext cx="2138833" cy="85553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rtl="0">
            <a:lnSpc>
              <a:spcPct val="90000"/>
            </a:lnSpc>
            <a:spcBef>
              <a:spcPct val="0"/>
            </a:spcBef>
            <a:spcAft>
              <a:spcPct val="35000"/>
            </a:spcAft>
            <a:buNone/>
          </a:pPr>
          <a:r>
            <a:rPr lang="en-US" sz="900" kern="1200">
              <a:latin typeface="Avenir Next LT Pro"/>
            </a:rPr>
            <a:t>Clean the data set by checking for missing values and filter the data set for outlier treatment (Impossible/ Dirty data handling)</a:t>
          </a:r>
        </a:p>
      </dsp:txBody>
      <dsp:txXfrm>
        <a:off x="8129970" y="3402476"/>
        <a:ext cx="1283300" cy="8555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0D739B-FC49-427C-91C4-822DBCC99712}">
      <dsp:nvSpPr>
        <dsp:cNvPr id="0" name=""/>
        <dsp:cNvSpPr/>
      </dsp:nvSpPr>
      <dsp:spPr>
        <a:xfrm rot="10800000">
          <a:off x="1488552" y="2758"/>
          <a:ext cx="5172318" cy="743004"/>
        </a:xfrm>
        <a:prstGeom prst="homePlat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27644" tIns="57150" rIns="106680" bIns="57150"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b="0" i="0" u="none" kern="1200"/>
            <a:t>Is there a significant difference in BMI between people with and without coronary heart disease? (T-test)</a:t>
          </a:r>
          <a:r>
            <a:rPr lang="en-US" sz="1500" b="0" i="0" kern="1200"/>
            <a:t>​</a:t>
          </a:r>
          <a:endParaRPr lang="en-IN" sz="1500" kern="1200"/>
        </a:p>
      </dsp:txBody>
      <dsp:txXfrm rot="10800000">
        <a:off x="1674303" y="2758"/>
        <a:ext cx="4986567" cy="743004"/>
      </dsp:txXfrm>
    </dsp:sp>
    <dsp:sp modelId="{3D49A23A-FBF5-42CE-A156-F458995F8A08}">
      <dsp:nvSpPr>
        <dsp:cNvPr id="0" name=""/>
        <dsp:cNvSpPr/>
      </dsp:nvSpPr>
      <dsp:spPr>
        <a:xfrm>
          <a:off x="1117050" y="2758"/>
          <a:ext cx="743004" cy="743004"/>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6D975B36-AF66-4FB8-908A-77645D6EF336}">
      <dsp:nvSpPr>
        <dsp:cNvPr id="0" name=""/>
        <dsp:cNvSpPr/>
      </dsp:nvSpPr>
      <dsp:spPr>
        <a:xfrm rot="10800000">
          <a:off x="1488552" y="967554"/>
          <a:ext cx="5172318" cy="743004"/>
        </a:xfrm>
        <a:prstGeom prst="homePlat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27644" tIns="57150" rIns="106680" bIns="57150"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b="0" i="0" u="none" kern="1200"/>
            <a:t>Is smoking status associated with coronary heart disease? (Chi-squared test)</a:t>
          </a:r>
          <a:r>
            <a:rPr lang="en-US" sz="1500" b="0" i="0" kern="1200"/>
            <a:t>​</a:t>
          </a:r>
        </a:p>
      </dsp:txBody>
      <dsp:txXfrm rot="10800000">
        <a:off x="1674303" y="967554"/>
        <a:ext cx="4986567" cy="743004"/>
      </dsp:txXfrm>
    </dsp:sp>
    <dsp:sp modelId="{62111073-7017-40BB-943D-06CA4142E0DA}">
      <dsp:nvSpPr>
        <dsp:cNvPr id="0" name=""/>
        <dsp:cNvSpPr/>
      </dsp:nvSpPr>
      <dsp:spPr>
        <a:xfrm>
          <a:off x="1117050" y="967554"/>
          <a:ext cx="743004" cy="743004"/>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BCA0B102-4BBB-44A3-9B2C-4B7A57C83C82}">
      <dsp:nvSpPr>
        <dsp:cNvPr id="0" name=""/>
        <dsp:cNvSpPr/>
      </dsp:nvSpPr>
      <dsp:spPr>
        <a:xfrm rot="10800000">
          <a:off x="1488552" y="1932351"/>
          <a:ext cx="5172318" cy="743004"/>
        </a:xfrm>
        <a:prstGeom prst="homePlat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27644" tIns="57150" rIns="106680" bIns="57150"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b="0" i="0" u="none" kern="1200"/>
            <a:t>Does BMI vary significantly across different general health status levels? (Anova)</a:t>
          </a:r>
          <a:r>
            <a:rPr lang="en-US" sz="1500" b="0" i="0" kern="1200"/>
            <a:t>​</a:t>
          </a:r>
        </a:p>
      </dsp:txBody>
      <dsp:txXfrm rot="10800000">
        <a:off x="1674303" y="1932351"/>
        <a:ext cx="4986567" cy="743004"/>
      </dsp:txXfrm>
    </dsp:sp>
    <dsp:sp modelId="{D4DDC5BC-B30A-4630-A3E0-14AD40159E4A}">
      <dsp:nvSpPr>
        <dsp:cNvPr id="0" name=""/>
        <dsp:cNvSpPr/>
      </dsp:nvSpPr>
      <dsp:spPr>
        <a:xfrm>
          <a:off x="1117050" y="1932351"/>
          <a:ext cx="743004" cy="743004"/>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CF245B60-1D94-443C-BCE6-A0B8E2A9A9FD}">
      <dsp:nvSpPr>
        <dsp:cNvPr id="0" name=""/>
        <dsp:cNvSpPr/>
      </dsp:nvSpPr>
      <dsp:spPr>
        <a:xfrm rot="10800000">
          <a:off x="1488552" y="2897147"/>
          <a:ext cx="5172318" cy="743004"/>
        </a:xfrm>
        <a:prstGeom prst="homePlat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27644" tIns="57150" rIns="106680" bIns="57150"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b="0" i="0" u="none" kern="1200"/>
            <a:t>Does exercise participations vary significantly across different BMI categories, suggesting a role in weight management? (Chi-square test)</a:t>
          </a:r>
          <a:r>
            <a:rPr lang="en-US" sz="1500" b="0" i="0" kern="1200"/>
            <a:t>​</a:t>
          </a:r>
        </a:p>
      </dsp:txBody>
      <dsp:txXfrm rot="10800000">
        <a:off x="1674303" y="2897147"/>
        <a:ext cx="4986567" cy="743004"/>
      </dsp:txXfrm>
    </dsp:sp>
    <dsp:sp modelId="{FD6BADF8-2506-4367-9D14-E8E83387D4C8}">
      <dsp:nvSpPr>
        <dsp:cNvPr id="0" name=""/>
        <dsp:cNvSpPr/>
      </dsp:nvSpPr>
      <dsp:spPr>
        <a:xfrm>
          <a:off x="1117050" y="2897147"/>
          <a:ext cx="743004" cy="743004"/>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4CB211B3-7BE3-4237-8C6F-98E310CA2D27}">
      <dsp:nvSpPr>
        <dsp:cNvPr id="0" name=""/>
        <dsp:cNvSpPr/>
      </dsp:nvSpPr>
      <dsp:spPr>
        <a:xfrm rot="10800000">
          <a:off x="1488552" y="3861944"/>
          <a:ext cx="5172318" cy="743004"/>
        </a:xfrm>
        <a:prstGeom prst="homePlat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27644" tIns="57150" rIns="106680" bIns="57150"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b="0" i="0" u="none" kern="1200"/>
            <a:t>Is diabetes status associated with coronary heart disease? (Chi-square)</a:t>
          </a:r>
          <a:endParaRPr lang="en-US" sz="1500" b="0" i="0" kern="1200"/>
        </a:p>
      </dsp:txBody>
      <dsp:txXfrm rot="10800000">
        <a:off x="1674303" y="3861944"/>
        <a:ext cx="4986567" cy="743004"/>
      </dsp:txXfrm>
    </dsp:sp>
    <dsp:sp modelId="{A8DBE558-2296-4B60-8D51-FEBA341ECC14}">
      <dsp:nvSpPr>
        <dsp:cNvPr id="0" name=""/>
        <dsp:cNvSpPr/>
      </dsp:nvSpPr>
      <dsp:spPr>
        <a:xfrm>
          <a:off x="1117050" y="3861944"/>
          <a:ext cx="743004" cy="743004"/>
        </a:xfrm>
        <a:prstGeom prst="ellipse">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10/20/2025</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10/20/2025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245686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5B27-055B-795D-C212-D18BE9260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65386-2C89-6BDD-34CA-AE29F4AD05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D91FA-E1EC-CC56-01E8-8AC8E5E37A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C0FC5D-9EAB-C217-F916-ACC8A1C1CA4B}"/>
              </a:ext>
            </a:extLst>
          </p:cNvPr>
          <p:cNvSpPr>
            <a:spLocks noGrp="1"/>
          </p:cNvSpPr>
          <p:nvPr>
            <p:ph type="sldNum" sz="quarter" idx="5"/>
          </p:nvPr>
        </p:nvSpPr>
        <p:spPr/>
        <p:txBody>
          <a:bodyPr/>
          <a:lstStyle/>
          <a:p>
            <a:fld id="{10895658-EA1F-4910-80AB-4DA76E167475}" type="slidenum">
              <a:rPr lang="en-US" smtClean="0"/>
              <a:t>2</a:t>
            </a:fld>
            <a:endParaRPr lang="en-US"/>
          </a:p>
        </p:txBody>
      </p:sp>
    </p:spTree>
    <p:extLst>
      <p:ext uri="{BB962C8B-B14F-4D97-AF65-F5344CB8AC3E}">
        <p14:creationId xmlns:p14="http://schemas.microsoft.com/office/powerpoint/2010/main" val="2918922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98E21-73E7-44F4-7D35-91C0B993C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259E0-02C0-5DAD-2876-8B24AF409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59BC3-5E59-2CE6-7E0D-21355E6568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21749D-06C9-AB0B-20F2-3F34F9F92990}"/>
              </a:ext>
            </a:extLst>
          </p:cNvPr>
          <p:cNvSpPr>
            <a:spLocks noGrp="1"/>
          </p:cNvSpPr>
          <p:nvPr>
            <p:ph type="sldNum" sz="quarter" idx="5"/>
          </p:nvPr>
        </p:nvSpPr>
        <p:spPr/>
        <p:txBody>
          <a:bodyPr/>
          <a:lstStyle/>
          <a:p>
            <a:fld id="{10895658-EA1F-4910-80AB-4DA76E167475}" type="slidenum">
              <a:rPr lang="en-US" smtClean="0"/>
              <a:t>3</a:t>
            </a:fld>
            <a:endParaRPr lang="en-US"/>
          </a:p>
        </p:txBody>
      </p:sp>
    </p:spTree>
    <p:extLst>
      <p:ext uri="{BB962C8B-B14F-4D97-AF65-F5344CB8AC3E}">
        <p14:creationId xmlns:p14="http://schemas.microsoft.com/office/powerpoint/2010/main" val="2097425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6C6E-6CAB-236E-2414-2F7B047AE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5DACB-CED7-21B8-0F57-8673763A9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B8E2C-8E17-64CD-1742-1417FAF898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CEE9F3-0A99-4860-60C4-54AB6AD942FF}"/>
              </a:ext>
            </a:extLst>
          </p:cNvPr>
          <p:cNvSpPr>
            <a:spLocks noGrp="1"/>
          </p:cNvSpPr>
          <p:nvPr>
            <p:ph type="sldNum" sz="quarter" idx="5"/>
          </p:nvPr>
        </p:nvSpPr>
        <p:spPr/>
        <p:txBody>
          <a:bodyPr/>
          <a:lstStyle/>
          <a:p>
            <a:fld id="{10895658-EA1F-4910-80AB-4DA76E167475}" type="slidenum">
              <a:rPr lang="en-US" smtClean="0"/>
              <a:t>4</a:t>
            </a:fld>
            <a:endParaRPr lang="en-US" dirty="0"/>
          </a:p>
        </p:txBody>
      </p:sp>
    </p:spTree>
    <p:extLst>
      <p:ext uri="{BB962C8B-B14F-4D97-AF65-F5344CB8AC3E}">
        <p14:creationId xmlns:p14="http://schemas.microsoft.com/office/powerpoint/2010/main" val="3066289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C836A-20C4-4B57-70F9-5E227429D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121CF0-EA8B-B8B7-DFE0-150C3E129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C696C-2747-07C4-F6E1-4AA1C0A26D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5E4C87-FE0D-A269-6839-C868320A5427}"/>
              </a:ext>
            </a:extLst>
          </p:cNvPr>
          <p:cNvSpPr>
            <a:spLocks noGrp="1"/>
          </p:cNvSpPr>
          <p:nvPr>
            <p:ph type="sldNum" sz="quarter" idx="5"/>
          </p:nvPr>
        </p:nvSpPr>
        <p:spPr/>
        <p:txBody>
          <a:bodyPr/>
          <a:lstStyle/>
          <a:p>
            <a:fld id="{10895658-EA1F-4910-80AB-4DA76E167475}" type="slidenum">
              <a:rPr lang="en-US" smtClean="0"/>
              <a:t>5</a:t>
            </a:fld>
            <a:endParaRPr lang="en-US"/>
          </a:p>
        </p:txBody>
      </p:sp>
    </p:spTree>
    <p:extLst>
      <p:ext uri="{BB962C8B-B14F-4D97-AF65-F5344CB8AC3E}">
        <p14:creationId xmlns:p14="http://schemas.microsoft.com/office/powerpoint/2010/main" val="4044088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09B24-C44E-C4F5-4C60-9E248B6F1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36007-392B-F0A0-3463-97868013C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F6BD1-75DB-F67A-E421-9F855864F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6E827B-F48B-023D-E45D-9884A82CEA35}"/>
              </a:ext>
            </a:extLst>
          </p:cNvPr>
          <p:cNvSpPr>
            <a:spLocks noGrp="1"/>
          </p:cNvSpPr>
          <p:nvPr>
            <p:ph type="sldNum" sz="quarter" idx="5"/>
          </p:nvPr>
        </p:nvSpPr>
        <p:spPr/>
        <p:txBody>
          <a:bodyPr/>
          <a:lstStyle/>
          <a:p>
            <a:fld id="{10895658-EA1F-4910-80AB-4DA76E167475}" type="slidenum">
              <a:rPr lang="en-US" smtClean="0"/>
              <a:t>6</a:t>
            </a:fld>
            <a:endParaRPr lang="en-US"/>
          </a:p>
        </p:txBody>
      </p:sp>
    </p:spTree>
    <p:extLst>
      <p:ext uri="{BB962C8B-B14F-4D97-AF65-F5344CB8AC3E}">
        <p14:creationId xmlns:p14="http://schemas.microsoft.com/office/powerpoint/2010/main" val="1554786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B832B-08D4-E11F-42B4-D8DD7DED2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2FCAF-AB4C-30F3-657B-D8AEFE63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28387-4E26-8B4E-20D4-990D080CF6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CD6133-9E7C-3C73-C68A-04F21CE1B173}"/>
              </a:ext>
            </a:extLst>
          </p:cNvPr>
          <p:cNvSpPr>
            <a:spLocks noGrp="1"/>
          </p:cNvSpPr>
          <p:nvPr>
            <p:ph type="sldNum" sz="quarter" idx="5"/>
          </p:nvPr>
        </p:nvSpPr>
        <p:spPr/>
        <p:txBody>
          <a:bodyPr/>
          <a:lstStyle/>
          <a:p>
            <a:fld id="{10895658-EA1F-4910-80AB-4DA76E167475}" type="slidenum">
              <a:rPr lang="en-US" smtClean="0"/>
              <a:t>7</a:t>
            </a:fld>
            <a:endParaRPr lang="en-US" dirty="0"/>
          </a:p>
        </p:txBody>
      </p:sp>
    </p:spTree>
    <p:extLst>
      <p:ext uri="{BB962C8B-B14F-4D97-AF65-F5344CB8AC3E}">
        <p14:creationId xmlns:p14="http://schemas.microsoft.com/office/powerpoint/2010/main" val="3527902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25630-C85E-0FBC-8E10-B9A995490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4DCEA-702D-083F-5759-2F8970CD6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12F9B-3523-004C-8DBF-D9148376BD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0FD3C1-090D-4324-6613-93F2063BEFFF}"/>
              </a:ext>
            </a:extLst>
          </p:cNvPr>
          <p:cNvSpPr>
            <a:spLocks noGrp="1"/>
          </p:cNvSpPr>
          <p:nvPr>
            <p:ph type="sldNum" sz="quarter" idx="5"/>
          </p:nvPr>
        </p:nvSpPr>
        <p:spPr/>
        <p:txBody>
          <a:bodyPr/>
          <a:lstStyle/>
          <a:p>
            <a:fld id="{10895658-EA1F-4910-80AB-4DA76E167475}" type="slidenum">
              <a:rPr lang="en-US" smtClean="0"/>
              <a:t>8</a:t>
            </a:fld>
            <a:endParaRPr lang="en-US" dirty="0"/>
          </a:p>
        </p:txBody>
      </p:sp>
    </p:spTree>
    <p:extLst>
      <p:ext uri="{BB962C8B-B14F-4D97-AF65-F5344CB8AC3E}">
        <p14:creationId xmlns:p14="http://schemas.microsoft.com/office/powerpoint/2010/main" val="2788320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26381-DE9E-9EA7-790A-680EDD535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F34F1-D464-8E1A-E956-1FBACB75E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6FBF4-A3F1-D8B3-AD20-B8944C8514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5A0E6A-2AE8-7977-F529-62F27B5C3D7C}"/>
              </a:ext>
            </a:extLst>
          </p:cNvPr>
          <p:cNvSpPr>
            <a:spLocks noGrp="1"/>
          </p:cNvSpPr>
          <p:nvPr>
            <p:ph type="sldNum" sz="quarter" idx="5"/>
          </p:nvPr>
        </p:nvSpPr>
        <p:spPr/>
        <p:txBody>
          <a:bodyPr/>
          <a:lstStyle/>
          <a:p>
            <a:fld id="{10895658-EA1F-4910-80AB-4DA76E167475}" type="slidenum">
              <a:rPr lang="en-US" smtClean="0"/>
              <a:t>9</a:t>
            </a:fld>
            <a:endParaRPr lang="en-US"/>
          </a:p>
        </p:txBody>
      </p:sp>
    </p:spTree>
    <p:extLst>
      <p:ext uri="{BB962C8B-B14F-4D97-AF65-F5344CB8AC3E}">
        <p14:creationId xmlns:p14="http://schemas.microsoft.com/office/powerpoint/2010/main" val="331940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09B24-C44E-C4F5-4C60-9E248B6F1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36007-392B-F0A0-3463-97868013C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F6BD1-75DB-F67A-E421-9F855864F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6E827B-F48B-023D-E45D-9884A82CEA35}"/>
              </a:ext>
            </a:extLst>
          </p:cNvPr>
          <p:cNvSpPr>
            <a:spLocks noGrp="1"/>
          </p:cNvSpPr>
          <p:nvPr>
            <p:ph type="sldNum" sz="quarter" idx="5"/>
          </p:nvPr>
        </p:nvSpPr>
        <p:spPr/>
        <p:txBody>
          <a:bodyPr/>
          <a:lstStyle/>
          <a:p>
            <a:fld id="{10895658-EA1F-4910-80AB-4DA76E167475}" type="slidenum">
              <a:rPr lang="en-US" smtClean="0"/>
              <a:t>10</a:t>
            </a:fld>
            <a:endParaRPr lang="en-US"/>
          </a:p>
        </p:txBody>
      </p:sp>
    </p:spTree>
    <p:extLst>
      <p:ext uri="{BB962C8B-B14F-4D97-AF65-F5344CB8AC3E}">
        <p14:creationId xmlns:p14="http://schemas.microsoft.com/office/powerpoint/2010/main" val="1554786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26381-DE9E-9EA7-790A-680EDD535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F34F1-D464-8E1A-E956-1FBACB75E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6FBF4-A3F1-D8B3-AD20-B8944C8514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5A0E6A-2AE8-7977-F529-62F27B5C3D7C}"/>
              </a:ext>
            </a:extLst>
          </p:cNvPr>
          <p:cNvSpPr>
            <a:spLocks noGrp="1"/>
          </p:cNvSpPr>
          <p:nvPr>
            <p:ph type="sldNum" sz="quarter" idx="5"/>
          </p:nvPr>
        </p:nvSpPr>
        <p:spPr/>
        <p:txBody>
          <a:bodyPr/>
          <a:lstStyle/>
          <a:p>
            <a:fld id="{10895658-EA1F-4910-80AB-4DA76E167475}" type="slidenum">
              <a:rPr lang="en-US" smtClean="0"/>
              <a:t>11</a:t>
            </a:fld>
            <a:endParaRPr lang="en-US"/>
          </a:p>
        </p:txBody>
      </p:sp>
    </p:spTree>
    <p:extLst>
      <p:ext uri="{BB962C8B-B14F-4D97-AF65-F5344CB8AC3E}">
        <p14:creationId xmlns:p14="http://schemas.microsoft.com/office/powerpoint/2010/main" val="331940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5B27-055B-795D-C212-D18BE9260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65386-2C89-6BDD-34CA-AE29F4AD05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D91FA-E1EC-CC56-01E8-8AC8E5E37A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C0FC5D-9EAB-C217-F916-ACC8A1C1CA4B}"/>
              </a:ext>
            </a:extLst>
          </p:cNvPr>
          <p:cNvSpPr>
            <a:spLocks noGrp="1"/>
          </p:cNvSpPr>
          <p:nvPr>
            <p:ph type="sldNum" sz="quarter" idx="5"/>
          </p:nvPr>
        </p:nvSpPr>
        <p:spPr/>
        <p:txBody>
          <a:bodyPr/>
          <a:lstStyle/>
          <a:p>
            <a:fld id="{10895658-EA1F-4910-80AB-4DA76E167475}" type="slidenum">
              <a:rPr lang="en-US" smtClean="0"/>
              <a:t>12</a:t>
            </a:fld>
            <a:endParaRPr lang="en-US"/>
          </a:p>
        </p:txBody>
      </p:sp>
    </p:spTree>
    <p:extLst>
      <p:ext uri="{BB962C8B-B14F-4D97-AF65-F5344CB8AC3E}">
        <p14:creationId xmlns:p14="http://schemas.microsoft.com/office/powerpoint/2010/main" val="2918922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6C6E-6CAB-236E-2414-2F7B047AE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5DACB-CED7-21B8-0F57-8673763A9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B8E2C-8E17-64CD-1742-1417FAF898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CEE9F3-0A99-4860-60C4-54AB6AD942FF}"/>
              </a:ext>
            </a:extLst>
          </p:cNvPr>
          <p:cNvSpPr>
            <a:spLocks noGrp="1"/>
          </p:cNvSpPr>
          <p:nvPr>
            <p:ph type="sldNum" sz="quarter" idx="5"/>
          </p:nvPr>
        </p:nvSpPr>
        <p:spPr/>
        <p:txBody>
          <a:bodyPr/>
          <a:lstStyle/>
          <a:p>
            <a:fld id="{10895658-EA1F-4910-80AB-4DA76E167475}" type="slidenum">
              <a:rPr lang="en-US" smtClean="0"/>
              <a:t>13</a:t>
            </a:fld>
            <a:endParaRPr lang="en-US"/>
          </a:p>
        </p:txBody>
      </p:sp>
    </p:spTree>
    <p:extLst>
      <p:ext uri="{BB962C8B-B14F-4D97-AF65-F5344CB8AC3E}">
        <p14:creationId xmlns:p14="http://schemas.microsoft.com/office/powerpoint/2010/main" val="3066289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CDE09-FAD8-ED24-EE5E-518D02DFC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68530-A1CB-0B79-FA0D-A485020AC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AB501-C788-4731-0BE8-0B18C2D8D4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610F04-F780-9FD9-4349-BEF953AF3667}"/>
              </a:ext>
            </a:extLst>
          </p:cNvPr>
          <p:cNvSpPr>
            <a:spLocks noGrp="1"/>
          </p:cNvSpPr>
          <p:nvPr>
            <p:ph type="sldNum" sz="quarter" idx="5"/>
          </p:nvPr>
        </p:nvSpPr>
        <p:spPr/>
        <p:txBody>
          <a:bodyPr/>
          <a:lstStyle/>
          <a:p>
            <a:fld id="{10895658-EA1F-4910-80AB-4DA76E167475}" type="slidenum">
              <a:rPr lang="en-US" smtClean="0"/>
              <a:t>14</a:t>
            </a:fld>
            <a:endParaRPr lang="en-US"/>
          </a:p>
        </p:txBody>
      </p:sp>
    </p:spTree>
    <p:extLst>
      <p:ext uri="{BB962C8B-B14F-4D97-AF65-F5344CB8AC3E}">
        <p14:creationId xmlns:p14="http://schemas.microsoft.com/office/powerpoint/2010/main" val="1424598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C8D1-34E9-F32A-461D-359022CAD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5B65A-4297-3BA7-A4C5-F0332E934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F55DD8-82E1-58D4-FFE5-FA00367B51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A7E67B-B06E-154D-8E49-4FA0EF05CA75}"/>
              </a:ext>
            </a:extLst>
          </p:cNvPr>
          <p:cNvSpPr>
            <a:spLocks noGrp="1"/>
          </p:cNvSpPr>
          <p:nvPr>
            <p:ph type="sldNum" sz="quarter" idx="5"/>
          </p:nvPr>
        </p:nvSpPr>
        <p:spPr/>
        <p:txBody>
          <a:bodyPr/>
          <a:lstStyle/>
          <a:p>
            <a:fld id="{10895658-EA1F-4910-80AB-4DA76E167475}" type="slidenum">
              <a:rPr lang="en-US" smtClean="0"/>
              <a:t>15</a:t>
            </a:fld>
            <a:endParaRPr lang="en-US"/>
          </a:p>
        </p:txBody>
      </p:sp>
    </p:spTree>
    <p:extLst>
      <p:ext uri="{BB962C8B-B14F-4D97-AF65-F5344CB8AC3E}">
        <p14:creationId xmlns:p14="http://schemas.microsoft.com/office/powerpoint/2010/main" val="41828967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userDrawn="1">
          <p15:clr>
            <a:srgbClr val="5ACBF0"/>
          </p15:clr>
        </p15:guide>
        <p15:guide id="2" pos="1920" userDrawn="1">
          <p15:clr>
            <a:srgbClr val="F26B43"/>
          </p15:clr>
        </p15:guide>
        <p15:guide id="3" pos="5760" userDrawn="1">
          <p15:clr>
            <a:srgbClr val="F26B43"/>
          </p15:clr>
        </p15:guide>
        <p15:guide id="4" orient="horz" pos="2160" userDrawn="1">
          <p15:clr>
            <a:srgbClr val="F26B43"/>
          </p15:clr>
        </p15:guide>
        <p15:guide id="5" pos="1272" userDrawn="1">
          <p15:clr>
            <a:srgbClr val="9FCC3B"/>
          </p15:clr>
        </p15:guide>
        <p15:guide id="6" pos="2544" userDrawn="1">
          <p15:clr>
            <a:srgbClr val="9FCC3B"/>
          </p15:clr>
        </p15:guide>
        <p15:guide id="7" pos="5112" userDrawn="1">
          <p15:clr>
            <a:srgbClr val="9FCC3B"/>
          </p15:clr>
        </p15:guide>
        <p15:guide id="8" pos="6408" userDrawn="1">
          <p15:clr>
            <a:srgbClr val="9FCC3B"/>
          </p15:clr>
        </p15:guide>
        <p15:guide id="9" pos="3940" userDrawn="1">
          <p15:clr>
            <a:srgbClr val="F26B43"/>
          </p15:clr>
        </p15:guide>
        <p15:guide id="10" pos="7104"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notesSlide" Target="../notesSlides/notesSlide2.xml"/><Relationship Id="rId7" Type="http://schemas.openxmlformats.org/officeDocument/2006/relationships/hyperlink" Target="https://www.cdc.gov/brfss/annual_data/annual_2024.html" TargetMode="External"/><Relationship Id="rId2" Type="http://schemas.openxmlformats.org/officeDocument/2006/relationships/slideLayout" Target="../slideLayouts/slideLayout11.xml"/><Relationship Id="rId1" Type="http://schemas.openxmlformats.org/officeDocument/2006/relationships/themeOverride" Target="../theme/themeOverride1.xml"/><Relationship Id="rId6" Type="http://schemas.openxmlformats.org/officeDocument/2006/relationships/hyperlink" Target="https://lthub.ubc.ca/guides/github-instructor-guide/" TargetMode="External"/><Relationship Id="rId5" Type="http://schemas.openxmlformats.org/officeDocument/2006/relationships/image" Target="../media/image27.png"/><Relationship Id="rId4" Type="http://schemas.openxmlformats.org/officeDocument/2006/relationships/hyperlink" Target="https://github.com/DhanushGWU1995/6101-mid-term-project" TargetMode="External"/><Relationship Id="rId9" Type="http://schemas.openxmlformats.org/officeDocument/2006/relationships/hyperlink" Target="http://thechoice.escp.eu/choose-to-lead/harnessing-ai-to-accelerate-digital-transformation/" TargetMode="Externa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3.xml"/><Relationship Id="rId7" Type="http://schemas.openxmlformats.org/officeDocument/2006/relationships/diagramColors" Target="../diagrams/colors1.xml"/><Relationship Id="rId2" Type="http://schemas.openxmlformats.org/officeDocument/2006/relationships/slideLayout" Target="../slideLayouts/slideLayout11.xml"/><Relationship Id="rId1" Type="http://schemas.openxmlformats.org/officeDocument/2006/relationships/themeOverride" Target="../theme/themeOverride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5.xml"/><Relationship Id="rId7" Type="http://schemas.openxmlformats.org/officeDocument/2006/relationships/diagramColors" Target="../diagrams/colors3.xml"/><Relationship Id="rId2" Type="http://schemas.openxmlformats.org/officeDocument/2006/relationships/slideLayout" Target="../slideLayouts/slideLayout11.xml"/><Relationship Id="rId1" Type="http://schemas.openxmlformats.org/officeDocument/2006/relationships/themeOverride" Target="../theme/themeOverride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6.xml"/><Relationship Id="rId7" Type="http://schemas.openxmlformats.org/officeDocument/2006/relationships/diagramColors" Target="../diagrams/colors4.xml"/><Relationship Id="rId2" Type="http://schemas.openxmlformats.org/officeDocument/2006/relationships/slideLayout" Target="../slideLayouts/slideLayout11.xml"/><Relationship Id="rId1" Type="http://schemas.openxmlformats.org/officeDocument/2006/relationships/themeOverride" Target="../theme/themeOverride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9.xml"/><Relationship Id="rId7" Type="http://schemas.openxmlformats.org/officeDocument/2006/relationships/diagramColors" Target="../diagrams/colors5.xml"/><Relationship Id="rId2" Type="http://schemas.openxmlformats.org/officeDocument/2006/relationships/slideLayout" Target="../slideLayouts/slideLayout11.xml"/><Relationship Id="rId1" Type="http://schemas.openxmlformats.org/officeDocument/2006/relationships/themeOverride" Target="../theme/themeOverride5.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hemeOverride" Target="../theme/themeOverride6.xml"/><Relationship Id="rId5" Type="http://schemas.openxmlformats.org/officeDocument/2006/relationships/image" Target="../media/image60.png"/><Relationship Id="rId4" Type="http://schemas.openxmlformats.org/officeDocument/2006/relationships/image" Target="../media/image5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hemeOverride" Target="../theme/themeOverride7.xml"/><Relationship Id="rId5" Type="http://schemas.openxmlformats.org/officeDocument/2006/relationships/image" Target="../media/image62.png"/><Relationship Id="rId4" Type="http://schemas.openxmlformats.org/officeDocument/2006/relationships/image" Target="../media/image6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hemeOverride" Target="../theme/themeOverride8.xml"/><Relationship Id="rId5" Type="http://schemas.openxmlformats.org/officeDocument/2006/relationships/image" Target="../media/image64.png"/><Relationship Id="rId4" Type="http://schemas.openxmlformats.org/officeDocument/2006/relationships/image" Target="../media/image6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hemeOverride" Target="../theme/themeOverride9.xml"/><Relationship Id="rId5" Type="http://schemas.openxmlformats.org/officeDocument/2006/relationships/image" Target="../media/image66.png"/><Relationship Id="rId4" Type="http://schemas.openxmlformats.org/officeDocument/2006/relationships/image" Target="../media/image6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hemeOverride" Target="../theme/themeOverride10.xml"/><Relationship Id="rId5" Type="http://schemas.openxmlformats.org/officeDocument/2006/relationships/image" Target="../media/image68.png"/><Relationship Id="rId4" Type="http://schemas.openxmlformats.org/officeDocument/2006/relationships/image" Target="../media/image6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hemeOverride" Target="../theme/themeOverr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4974771" y="576943"/>
            <a:ext cx="6449786" cy="2785508"/>
          </a:xfrm>
        </p:spPr>
        <p:txBody>
          <a:bodyPr vert="horz" lIns="91440" tIns="45720" rIns="91440" bIns="45720" rtlCol="0" anchor="b">
            <a:normAutofit/>
          </a:bodyPr>
          <a:lstStyle/>
          <a:p>
            <a:r>
              <a:rPr lang="en-US" kern="1200" cap="all" baseline="0" dirty="0">
                <a:ea typeface="+mj-lt"/>
                <a:cs typeface="+mj-lt"/>
              </a:rPr>
              <a:t>Factors </a:t>
            </a:r>
            <a:r>
              <a:rPr lang="en-US" dirty="0">
                <a:ea typeface="+mj-lt"/>
                <a:cs typeface="+mj-lt"/>
              </a:rPr>
              <a:t>linked to the Diagnosis on </a:t>
            </a:r>
            <a:r>
              <a:rPr lang="en-US" kern="1200" cap="all" baseline="0" dirty="0">
                <a:ea typeface="+mj-lt"/>
                <a:cs typeface="+mj-lt"/>
              </a:rPr>
              <a:t>Coronary Heart Disease</a:t>
            </a:r>
            <a:endParaRPr lang="en-US">
              <a:ea typeface="+mj-ea"/>
              <a:cs typeface="+mj-cs"/>
            </a:endParaRPr>
          </a:p>
        </p:txBody>
      </p:sp>
      <p:sp>
        <p:nvSpPr>
          <p:cNvPr id="27" name="Slide Number Placeholder 3">
            <a:extLst>
              <a:ext uri="{FF2B5EF4-FFF2-40B4-BE49-F238E27FC236}">
                <a16:creationId xmlns:a16="http://schemas.microsoft.com/office/drawing/2014/main" id="{F607FBCF-36F4-4947-4B2B-706A74666613}"/>
              </a:ext>
            </a:extLst>
          </p:cNvPr>
          <p:cNvSpPr>
            <a:spLocks noGrp="1"/>
          </p:cNvSpPr>
          <p:nvPr>
            <p:ph type="sldNum" sz="quarter" idx="12"/>
          </p:nvPr>
        </p:nvSpPr>
        <p:spPr>
          <a:xfrm>
            <a:off x="11123295" y="6352847"/>
            <a:ext cx="457200" cy="365125"/>
          </a:xfrm>
        </p:spPr>
        <p:txBody>
          <a:bodyPr/>
          <a:lstStyle/>
          <a:p>
            <a:pPr>
              <a:spcAft>
                <a:spcPts val="600"/>
              </a:spcAft>
            </a:pPr>
            <a:fld id="{B5CEABB6-07DC-46E8-9B57-56EC44A396E5}" type="slidenum">
              <a:rPr lang="en-US" smtClean="0"/>
              <a:pPr>
                <a:spcAft>
                  <a:spcPts val="600"/>
                </a:spcAft>
              </a:pPr>
              <a:t>1</a:t>
            </a:fld>
            <a:endParaRPr lang="en-US"/>
          </a:p>
        </p:txBody>
      </p:sp>
      <p:sp>
        <p:nvSpPr>
          <p:cNvPr id="4" name="TextBox 3">
            <a:extLst>
              <a:ext uri="{FF2B5EF4-FFF2-40B4-BE49-F238E27FC236}">
                <a16:creationId xmlns:a16="http://schemas.microsoft.com/office/drawing/2014/main" id="{802BB08E-C86B-1885-018C-C3A5CD6178B0}"/>
              </a:ext>
            </a:extLst>
          </p:cNvPr>
          <p:cNvSpPr txBox="1"/>
          <p:nvPr/>
        </p:nvSpPr>
        <p:spPr>
          <a:xfrm>
            <a:off x="6109240" y="4502426"/>
            <a:ext cx="5242655" cy="1323439"/>
          </a:xfrm>
          <a:prstGeom prst="rect">
            <a:avLst/>
          </a:prstGeom>
          <a:noFill/>
        </p:spPr>
        <p:txBody>
          <a:bodyPr wrap="square" rtlCol="0">
            <a:spAutoFit/>
          </a:bodyPr>
          <a:lstStyle/>
          <a:p>
            <a:pPr algn="r"/>
            <a:r>
              <a:rPr lang="en-IN" sz="2000" dirty="0">
                <a:solidFill>
                  <a:schemeClr val="bg1"/>
                </a:solidFill>
              </a:rPr>
              <a:t>- DHANUSH MATHIVANAN</a:t>
            </a:r>
          </a:p>
          <a:p>
            <a:pPr algn="r"/>
            <a:r>
              <a:rPr lang="en-IN" sz="2000" dirty="0">
                <a:solidFill>
                  <a:schemeClr val="bg1"/>
                </a:solidFill>
              </a:rPr>
              <a:t>- HENG-JUI CHU</a:t>
            </a:r>
          </a:p>
          <a:p>
            <a:pPr algn="r"/>
            <a:r>
              <a:rPr lang="en-IN" sz="2000" dirty="0">
                <a:solidFill>
                  <a:schemeClr val="bg1"/>
                </a:solidFill>
              </a:rPr>
              <a:t>- NIKHILESH DHAVALE</a:t>
            </a:r>
          </a:p>
          <a:p>
            <a:pPr algn="r"/>
            <a:r>
              <a:rPr lang="en-IN" sz="2000" dirty="0">
                <a:solidFill>
                  <a:schemeClr val="bg1"/>
                </a:solidFill>
              </a:rPr>
              <a:t>- ADITYA KARANDE</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A601022D-572A-7C1A-92DA-958C157F9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E789E-A008-420E-D319-E6AFF1E67923}"/>
              </a:ext>
            </a:extLst>
          </p:cNvPr>
          <p:cNvSpPr>
            <a:spLocks noGrp="1"/>
          </p:cNvSpPr>
          <p:nvPr>
            <p:ph type="title"/>
          </p:nvPr>
        </p:nvSpPr>
        <p:spPr>
          <a:xfrm>
            <a:off x="1552574" y="854358"/>
            <a:ext cx="9866540" cy="1358140"/>
          </a:xfrm>
        </p:spPr>
        <p:txBody>
          <a:bodyPr anchor="t">
            <a:normAutofit/>
          </a:bodyPr>
          <a:lstStyle/>
          <a:p>
            <a:r>
              <a:rPr lang="en-US">
                <a:solidFill>
                  <a:schemeClr val="accent2"/>
                </a:solidFill>
              </a:rPr>
              <a:t>Source links</a:t>
            </a:r>
            <a:endParaRPr lang="en-ZA">
              <a:solidFill>
                <a:schemeClr val="accent2"/>
              </a:solidFill>
            </a:endParaRPr>
          </a:p>
        </p:txBody>
      </p:sp>
      <p:sp>
        <p:nvSpPr>
          <p:cNvPr id="32" name="Content Placeholder 31">
            <a:extLst>
              <a:ext uri="{FF2B5EF4-FFF2-40B4-BE49-F238E27FC236}">
                <a16:creationId xmlns:a16="http://schemas.microsoft.com/office/drawing/2014/main" id="{9FB187C8-3C32-E6AD-C4C7-E849B1E8DFBC}"/>
              </a:ext>
            </a:extLst>
          </p:cNvPr>
          <p:cNvSpPr>
            <a:spLocks noGrp="1"/>
          </p:cNvSpPr>
          <p:nvPr>
            <p:ph sz="half" idx="15"/>
          </p:nvPr>
        </p:nvSpPr>
        <p:spPr>
          <a:xfrm>
            <a:off x="1552575" y="2087586"/>
            <a:ext cx="8648054" cy="4262130"/>
          </a:xfrm>
        </p:spPr>
        <p:txBody>
          <a:bodyPr vert="horz" lIns="91440" tIns="45720" rIns="91440" bIns="45720" rtlCol="0" anchor="t">
            <a:normAutofit/>
          </a:bodyPr>
          <a:lstStyle/>
          <a:p>
            <a:r>
              <a:rPr lang="en-US" sz="2000">
                <a:solidFill>
                  <a:schemeClr val="tx1"/>
                </a:solidFill>
              </a:rPr>
              <a:t>Git Hub: </a:t>
            </a:r>
            <a:r>
              <a:rPr lang="en-US" sz="2000">
                <a:solidFill>
                  <a:srgbClr val="0070C0"/>
                </a:solidFill>
                <a:hlinkClick r:id="rId4">
                  <a:extLst>
                    <a:ext uri="{A12FA001-AC4F-418D-AE19-62706E023703}">
                      <ahyp:hlinkClr xmlns:ahyp="http://schemas.microsoft.com/office/drawing/2018/hyperlinkcolor" val="tx"/>
                    </a:ext>
                  </a:extLst>
                </a:hlinkClick>
              </a:rPr>
              <a:t>6101-mid-term-project   </a:t>
            </a:r>
            <a:r>
              <a:rPr lang="en-US" sz="2000">
                <a:solidFill>
                  <a:schemeClr val="tx1"/>
                </a:solidFill>
              </a:rPr>
              <a:t>   </a:t>
            </a:r>
            <a:endParaRPr lang="en-US" sz="2000">
              <a:solidFill>
                <a:schemeClr val="tx1"/>
              </a:solidFill>
              <a:ea typeface="+mn-lt"/>
              <a:cs typeface="+mn-lt"/>
            </a:endParaRPr>
          </a:p>
          <a:p>
            <a:r>
              <a:rPr lang="en-US">
                <a:solidFill>
                  <a:schemeClr val="tx1"/>
                </a:solidFill>
              </a:rPr>
              <a:t> </a:t>
            </a:r>
          </a:p>
        </p:txBody>
      </p:sp>
      <p:sp>
        <p:nvSpPr>
          <p:cNvPr id="19" name="Text Placeholder 2">
            <a:extLst>
              <a:ext uri="{FF2B5EF4-FFF2-40B4-BE49-F238E27FC236}">
                <a16:creationId xmlns:a16="http://schemas.microsoft.com/office/drawing/2014/main" id="{ED66BE63-4C50-FF83-328D-A70C95790F3F}"/>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21A3A1D0-215C-7D1B-48FE-703D8BE201DC}"/>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2</a:t>
            </a:fld>
            <a:endParaRPr lang="en-US">
              <a:solidFill>
                <a:schemeClr val="tx1"/>
              </a:solidFill>
            </a:endParaRPr>
          </a:p>
        </p:txBody>
      </p:sp>
      <p:pic>
        <p:nvPicPr>
          <p:cNvPr id="3" name="Picture 2">
            <a:extLst>
              <a:ext uri="{FF2B5EF4-FFF2-40B4-BE49-F238E27FC236}">
                <a16:creationId xmlns:a16="http://schemas.microsoft.com/office/drawing/2014/main" id="{BE685E81-1A7E-4140-FE48-33F540B61ADA}"/>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2209202" y="3551339"/>
            <a:ext cx="2919743" cy="1619056"/>
          </a:xfrm>
          <a:prstGeom prst="rect">
            <a:avLst/>
          </a:prstGeom>
        </p:spPr>
      </p:pic>
      <p:sp>
        <p:nvSpPr>
          <p:cNvPr id="4" name="TextBox 3">
            <a:extLst>
              <a:ext uri="{FF2B5EF4-FFF2-40B4-BE49-F238E27FC236}">
                <a16:creationId xmlns:a16="http://schemas.microsoft.com/office/drawing/2014/main" id="{53191417-A3D5-A9B5-5C20-D893E721DA76}"/>
              </a:ext>
            </a:extLst>
          </p:cNvPr>
          <p:cNvSpPr txBox="1"/>
          <p:nvPr/>
        </p:nvSpPr>
        <p:spPr>
          <a:xfrm>
            <a:off x="6485227" y="2087586"/>
            <a:ext cx="5269147" cy="3477875"/>
          </a:xfrm>
          <a:prstGeom prst="rect">
            <a:avLst/>
          </a:prstGeom>
          <a:noFill/>
        </p:spPr>
        <p:txBody>
          <a:bodyPr wrap="square" lIns="91440" tIns="45720" rIns="91440" bIns="45720" rtlCol="0" anchor="t">
            <a:spAutoFit/>
          </a:bodyPr>
          <a:lstStyle/>
          <a:p>
            <a:r>
              <a:rPr lang="en-US" sz="2000"/>
              <a:t>Dataset Link: </a:t>
            </a:r>
            <a:r>
              <a:rPr lang="en-US" sz="2000">
                <a:hlinkClick r:id="rId7"/>
              </a:rPr>
              <a:t>Behavioral Risk Factor Survelliance System</a:t>
            </a:r>
            <a:endParaRPr lang="en-US" sz="2000"/>
          </a:p>
          <a:p>
            <a:endParaRPr lang="en-US"/>
          </a:p>
          <a:p>
            <a:endParaRPr lang="en-US"/>
          </a:p>
          <a:p>
            <a:endParaRPr lang="en-US"/>
          </a:p>
          <a:p>
            <a:endParaRPr lang="en-US"/>
          </a:p>
          <a:p>
            <a:endParaRPr lang="en-US"/>
          </a:p>
          <a:p>
            <a:endParaRPr lang="en-US"/>
          </a:p>
          <a:p>
            <a:endParaRPr lang="en-US"/>
          </a:p>
          <a:p>
            <a:endParaRPr lang="en-US"/>
          </a:p>
          <a:p>
            <a:endParaRPr lang="en-US"/>
          </a:p>
          <a:p>
            <a:endParaRPr lang="en-IN"/>
          </a:p>
        </p:txBody>
      </p:sp>
      <p:pic>
        <p:nvPicPr>
          <p:cNvPr id="7" name="Picture 6">
            <a:extLst>
              <a:ext uri="{FF2B5EF4-FFF2-40B4-BE49-F238E27FC236}">
                <a16:creationId xmlns:a16="http://schemas.microsoft.com/office/drawing/2014/main" id="{EC37F93F-70EA-F9E2-E1EE-74043A4E11B0}"/>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7154757" y="3428601"/>
            <a:ext cx="3045526" cy="1869647"/>
          </a:xfrm>
          <a:prstGeom prst="rect">
            <a:avLst/>
          </a:prstGeom>
        </p:spPr>
      </p:pic>
    </p:spTree>
    <p:extLst>
      <p:ext uri="{BB962C8B-B14F-4D97-AF65-F5344CB8AC3E}">
        <p14:creationId xmlns:p14="http://schemas.microsoft.com/office/powerpoint/2010/main" val="3551377415"/>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95DDDA9-BFED-4601-F961-337819F87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31EAE-0FA9-D0BA-8D29-1914EEBC2CC3}"/>
              </a:ext>
            </a:extLst>
          </p:cNvPr>
          <p:cNvSpPr>
            <a:spLocks noGrp="1"/>
          </p:cNvSpPr>
          <p:nvPr>
            <p:ph type="title"/>
          </p:nvPr>
        </p:nvSpPr>
        <p:spPr/>
        <p:txBody>
          <a:bodyPr anchor="t">
            <a:normAutofit/>
          </a:bodyPr>
          <a:lstStyle/>
          <a:p>
            <a:r>
              <a:rPr lang="en-US">
                <a:solidFill>
                  <a:schemeClr val="accent2"/>
                </a:solidFill>
              </a:rPr>
              <a:t>Agenda</a:t>
            </a:r>
            <a:endParaRPr lang="en-ZA">
              <a:solidFill>
                <a:schemeClr val="accent2"/>
              </a:solidFill>
            </a:endParaRPr>
          </a:p>
        </p:txBody>
      </p:sp>
      <p:sp>
        <p:nvSpPr>
          <p:cNvPr id="19" name="Text Placeholder 2">
            <a:extLst>
              <a:ext uri="{FF2B5EF4-FFF2-40B4-BE49-F238E27FC236}">
                <a16:creationId xmlns:a16="http://schemas.microsoft.com/office/drawing/2014/main" id="{EEC3C797-6105-A9E1-009A-02E7D105DB3D}"/>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515241F5-2873-91DC-1241-49E7C7FB7C22}"/>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3</a:t>
            </a:fld>
            <a:endParaRPr lang="en-US">
              <a:solidFill>
                <a:schemeClr val="tx1"/>
              </a:solidFill>
            </a:endParaRPr>
          </a:p>
        </p:txBody>
      </p:sp>
      <p:graphicFrame>
        <p:nvGraphicFramePr>
          <p:cNvPr id="61" name="Subtitle 2">
            <a:extLst>
              <a:ext uri="{FF2B5EF4-FFF2-40B4-BE49-F238E27FC236}">
                <a16:creationId xmlns:a16="http://schemas.microsoft.com/office/drawing/2014/main" id="{2F59D6C1-603B-5E9B-5ED9-F7AC86B79B86}"/>
              </a:ext>
            </a:extLst>
          </p:cNvPr>
          <p:cNvGraphicFramePr>
            <a:graphicFrameLocks/>
          </p:cNvGraphicFramePr>
          <p:nvPr>
            <p:extLst>
              <p:ext uri="{D42A27DB-BD31-4B8C-83A1-F6EECF244321}">
                <p14:modId xmlns:p14="http://schemas.microsoft.com/office/powerpoint/2010/main" val="3605354390"/>
              </p:ext>
            </p:extLst>
          </p:nvPr>
        </p:nvGraphicFramePr>
        <p:xfrm>
          <a:off x="1552574" y="2249401"/>
          <a:ext cx="10472412" cy="36418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5080851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EAC2E21-6C9E-4953-B38C-70CD2ACD1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C7CBC-A8AB-2F9A-6201-453D5BE862B4}"/>
              </a:ext>
            </a:extLst>
          </p:cNvPr>
          <p:cNvSpPr>
            <a:spLocks noGrp="1"/>
          </p:cNvSpPr>
          <p:nvPr>
            <p:ph type="title"/>
          </p:nvPr>
        </p:nvSpPr>
        <p:spPr>
          <a:xfrm>
            <a:off x="1552574" y="896111"/>
            <a:ext cx="9866540" cy="1358140"/>
          </a:xfrm>
        </p:spPr>
        <p:txBody>
          <a:bodyPr anchor="t">
            <a:normAutofit/>
          </a:bodyPr>
          <a:lstStyle/>
          <a:p>
            <a:r>
              <a:rPr lang="en-US" dirty="0">
                <a:solidFill>
                  <a:schemeClr val="accent2"/>
                </a:solidFill>
              </a:rPr>
              <a:t>Introduction</a:t>
            </a:r>
            <a:endParaRPr lang="en-ZA" dirty="0">
              <a:solidFill>
                <a:schemeClr val="accent2"/>
              </a:solidFill>
            </a:endParaRPr>
          </a:p>
        </p:txBody>
      </p:sp>
      <p:sp>
        <p:nvSpPr>
          <p:cNvPr id="19" name="Text Placeholder 2">
            <a:extLst>
              <a:ext uri="{FF2B5EF4-FFF2-40B4-BE49-F238E27FC236}">
                <a16:creationId xmlns:a16="http://schemas.microsoft.com/office/drawing/2014/main" id="{4B0CA373-EA74-00EC-D773-19723F83603D}"/>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6163A98D-143E-7172-EF35-4E04FA8AF3BA}"/>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4</a:t>
            </a:fld>
            <a:endParaRPr lang="en-US" dirty="0">
              <a:solidFill>
                <a:schemeClr val="tx1"/>
              </a:solidFill>
            </a:endParaRPr>
          </a:p>
        </p:txBody>
      </p:sp>
      <p:graphicFrame>
        <p:nvGraphicFramePr>
          <p:cNvPr id="46" name="Content Placeholder 4">
            <a:extLst>
              <a:ext uri="{FF2B5EF4-FFF2-40B4-BE49-F238E27FC236}">
                <a16:creationId xmlns:a16="http://schemas.microsoft.com/office/drawing/2014/main" id="{069DCB7A-1995-BAE2-CF74-252DD3355BF3}"/>
              </a:ext>
            </a:extLst>
          </p:cNvPr>
          <p:cNvGraphicFramePr>
            <a:graphicFrameLocks noGrp="1"/>
          </p:cNvGraphicFramePr>
          <p:nvPr>
            <p:ph sz="half" idx="15"/>
            <p:extLst>
              <p:ext uri="{D42A27DB-BD31-4B8C-83A1-F6EECF244321}">
                <p14:modId xmlns:p14="http://schemas.microsoft.com/office/powerpoint/2010/main" val="2644600302"/>
              </p:ext>
            </p:extLst>
          </p:nvPr>
        </p:nvGraphicFramePr>
        <p:xfrm>
          <a:off x="1552575" y="2085283"/>
          <a:ext cx="8356855" cy="4032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074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5B1ED87B-70F1-85EC-39C1-904566590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D6FDB-394E-423B-F8F4-F3C6AD9B6980}"/>
              </a:ext>
            </a:extLst>
          </p:cNvPr>
          <p:cNvSpPr>
            <a:spLocks noGrp="1"/>
          </p:cNvSpPr>
          <p:nvPr>
            <p:ph type="title"/>
          </p:nvPr>
        </p:nvSpPr>
        <p:spPr>
          <a:xfrm>
            <a:off x="1552574" y="854358"/>
            <a:ext cx="9866540" cy="1358140"/>
          </a:xfrm>
        </p:spPr>
        <p:txBody>
          <a:bodyPr anchor="t">
            <a:normAutofit/>
          </a:bodyPr>
          <a:lstStyle/>
          <a:p>
            <a:r>
              <a:rPr lang="en-US">
                <a:solidFill>
                  <a:schemeClr val="accent2"/>
                </a:solidFill>
              </a:rPr>
              <a:t>Project workflow process diagram</a:t>
            </a:r>
            <a:endParaRPr lang="en-ZA">
              <a:solidFill>
                <a:schemeClr val="accent2"/>
              </a:solidFill>
            </a:endParaRPr>
          </a:p>
        </p:txBody>
      </p:sp>
      <p:sp>
        <p:nvSpPr>
          <p:cNvPr id="32" name="Content Placeholder 31">
            <a:extLst>
              <a:ext uri="{FF2B5EF4-FFF2-40B4-BE49-F238E27FC236}">
                <a16:creationId xmlns:a16="http://schemas.microsoft.com/office/drawing/2014/main" id="{7C7D2DBF-B674-3402-0AE7-BD2FFEB13059}"/>
              </a:ext>
            </a:extLst>
          </p:cNvPr>
          <p:cNvSpPr>
            <a:spLocks noGrp="1"/>
          </p:cNvSpPr>
          <p:nvPr>
            <p:ph sz="half" idx="15"/>
          </p:nvPr>
        </p:nvSpPr>
        <p:spPr>
          <a:xfrm>
            <a:off x="1552575" y="2087586"/>
            <a:ext cx="8648054" cy="4262130"/>
          </a:xfrm>
        </p:spPr>
        <p:txBody>
          <a:bodyPr vert="horz" lIns="91440" tIns="45720" rIns="91440" bIns="45720" rtlCol="0" anchor="t">
            <a:normAutofit/>
          </a:bodyPr>
          <a:lstStyle/>
          <a:p>
            <a:endParaRPr lang="en-US">
              <a:solidFill>
                <a:schemeClr val="tx1"/>
              </a:solidFill>
              <a:ea typeface="+mn-lt"/>
              <a:cs typeface="+mn-lt"/>
            </a:endParaRPr>
          </a:p>
          <a:p>
            <a:pPr>
              <a:buChar char="•"/>
            </a:pPr>
            <a:endParaRPr lang="en-US" sz="2000">
              <a:solidFill>
                <a:schemeClr val="tx1"/>
              </a:solidFill>
              <a:ea typeface="+mn-lt"/>
              <a:cs typeface="+mn-lt"/>
            </a:endParaRPr>
          </a:p>
          <a:p>
            <a:r>
              <a:rPr lang="en-US">
                <a:solidFill>
                  <a:schemeClr val="tx1"/>
                </a:solidFill>
              </a:rPr>
              <a:t> </a:t>
            </a:r>
          </a:p>
        </p:txBody>
      </p:sp>
      <p:sp>
        <p:nvSpPr>
          <p:cNvPr id="19" name="Text Placeholder 2">
            <a:extLst>
              <a:ext uri="{FF2B5EF4-FFF2-40B4-BE49-F238E27FC236}">
                <a16:creationId xmlns:a16="http://schemas.microsoft.com/office/drawing/2014/main" id="{42A5BA85-4468-4AD2-19E9-89399FD09C5E}"/>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F1F89968-86AA-802B-C581-A3025705F8FA}"/>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5</a:t>
            </a:fld>
            <a:endParaRPr lang="en-US">
              <a:solidFill>
                <a:schemeClr val="tx1"/>
              </a:solidFill>
            </a:endParaRPr>
          </a:p>
        </p:txBody>
      </p:sp>
      <p:graphicFrame>
        <p:nvGraphicFramePr>
          <p:cNvPr id="3" name="Diagram 2">
            <a:extLst>
              <a:ext uri="{FF2B5EF4-FFF2-40B4-BE49-F238E27FC236}">
                <a16:creationId xmlns:a16="http://schemas.microsoft.com/office/drawing/2014/main" id="{3131DB3D-3648-4372-16F5-ADEBD99E23FC}"/>
              </a:ext>
            </a:extLst>
          </p:cNvPr>
          <p:cNvGraphicFramePr/>
          <p:nvPr/>
        </p:nvGraphicFramePr>
        <p:xfrm>
          <a:off x="3371272" y="2208261"/>
          <a:ext cx="6234544" cy="44119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3693958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E9210674-2E58-84C1-43B2-E1910EEB2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643BD-ED25-4F9C-CAB5-CF1A07B81B23}"/>
              </a:ext>
            </a:extLst>
          </p:cNvPr>
          <p:cNvSpPr>
            <a:spLocks noGrp="1"/>
          </p:cNvSpPr>
          <p:nvPr>
            <p:ph type="title"/>
          </p:nvPr>
        </p:nvSpPr>
        <p:spPr>
          <a:xfrm>
            <a:off x="1552574" y="854358"/>
            <a:ext cx="9866540" cy="1358140"/>
          </a:xfrm>
        </p:spPr>
        <p:txBody>
          <a:bodyPr anchor="t">
            <a:normAutofit/>
          </a:bodyPr>
          <a:lstStyle/>
          <a:p>
            <a:r>
              <a:rPr lang="en-US">
                <a:solidFill>
                  <a:schemeClr val="accent2"/>
                </a:solidFill>
              </a:rPr>
              <a:t>Dataset overview</a:t>
            </a:r>
            <a:endParaRPr lang="en-ZA">
              <a:solidFill>
                <a:schemeClr val="accent2"/>
              </a:solidFill>
            </a:endParaRPr>
          </a:p>
        </p:txBody>
      </p:sp>
      <p:sp>
        <p:nvSpPr>
          <p:cNvPr id="32" name="Content Placeholder 31">
            <a:extLst>
              <a:ext uri="{FF2B5EF4-FFF2-40B4-BE49-F238E27FC236}">
                <a16:creationId xmlns:a16="http://schemas.microsoft.com/office/drawing/2014/main" id="{823BC63C-728C-0564-C380-2B190EEFF1DD}"/>
              </a:ext>
            </a:extLst>
          </p:cNvPr>
          <p:cNvSpPr>
            <a:spLocks noGrp="1"/>
          </p:cNvSpPr>
          <p:nvPr>
            <p:ph sz="half" idx="15"/>
          </p:nvPr>
        </p:nvSpPr>
        <p:spPr>
          <a:xfrm>
            <a:off x="1552575" y="1810496"/>
            <a:ext cx="8648054" cy="4539220"/>
          </a:xfrm>
        </p:spPr>
        <p:txBody>
          <a:bodyPr vert="horz" lIns="91440" tIns="45720" rIns="91440" bIns="45720" rtlCol="0" anchor="t">
            <a:normAutofit/>
          </a:bodyPr>
          <a:lstStyle/>
          <a:p>
            <a:pPr marL="285750" indent="-285750">
              <a:buChar char="•"/>
            </a:pPr>
            <a:r>
              <a:rPr lang="en-US" sz="1400">
                <a:solidFill>
                  <a:schemeClr val="tx1"/>
                </a:solidFill>
              </a:rPr>
              <a:t>The</a:t>
            </a:r>
            <a:r>
              <a:rPr lang="en-US" sz="1400">
                <a:solidFill>
                  <a:schemeClr val="tx1"/>
                </a:solidFill>
                <a:ea typeface="+mn-lt"/>
                <a:cs typeface="+mn-lt"/>
              </a:rPr>
              <a:t> 2024 Behavioral Risk Factor Surveillance System (BRFSS) dataset from the U.S. Centers for Disease Control and Prevention (CDC) contains </a:t>
            </a:r>
            <a:r>
              <a:rPr lang="en-US" sz="1400" b="1">
                <a:solidFill>
                  <a:schemeClr val="tx1"/>
                </a:solidFill>
                <a:ea typeface="+mn-lt"/>
                <a:cs typeface="+mn-lt"/>
              </a:rPr>
              <a:t>457,671</a:t>
            </a:r>
            <a:r>
              <a:rPr lang="en-US" sz="1400">
                <a:solidFill>
                  <a:schemeClr val="tx1"/>
                </a:solidFill>
                <a:ea typeface="+mn-lt"/>
                <a:cs typeface="+mn-lt"/>
              </a:rPr>
              <a:t> observations of medical and behavioral data for U.S. adults across 330 variables. This exploratory data analysis (EDA) focuses on eight key variables: </a:t>
            </a:r>
            <a:r>
              <a:rPr lang="en-US" sz="1400" b="1" err="1">
                <a:solidFill>
                  <a:schemeClr val="tx1"/>
                </a:solidFill>
                <a:ea typeface="+mn-lt"/>
                <a:cs typeface="+mn-lt"/>
              </a:rPr>
              <a:t>BMI_Value</a:t>
            </a:r>
            <a:r>
              <a:rPr lang="en-US" sz="1400" b="1">
                <a:solidFill>
                  <a:schemeClr val="tx1"/>
                </a:solidFill>
                <a:ea typeface="+mn-lt"/>
                <a:cs typeface="+mn-lt"/>
              </a:rPr>
              <a:t>, </a:t>
            </a:r>
            <a:r>
              <a:rPr lang="en-US" sz="1400" b="1" err="1">
                <a:solidFill>
                  <a:schemeClr val="tx1"/>
                </a:solidFill>
                <a:ea typeface="+mn-lt"/>
                <a:cs typeface="+mn-lt"/>
              </a:rPr>
              <a:t>General_Health_Status</a:t>
            </a:r>
            <a:r>
              <a:rPr lang="en-US" sz="1400" b="1">
                <a:solidFill>
                  <a:schemeClr val="tx1"/>
                </a:solidFill>
                <a:ea typeface="+mn-lt"/>
                <a:cs typeface="+mn-lt"/>
              </a:rPr>
              <a:t>, </a:t>
            </a:r>
            <a:r>
              <a:rPr lang="en-US" sz="1400" b="1" err="1">
                <a:solidFill>
                  <a:schemeClr val="tx1"/>
                </a:solidFill>
                <a:ea typeface="+mn-lt"/>
                <a:cs typeface="+mn-lt"/>
              </a:rPr>
              <a:t>Coronary_Heart_Disease</a:t>
            </a:r>
            <a:r>
              <a:rPr lang="en-US" sz="1400" b="1">
                <a:solidFill>
                  <a:schemeClr val="tx1"/>
                </a:solidFill>
                <a:ea typeface="+mn-lt"/>
                <a:cs typeface="+mn-lt"/>
              </a:rPr>
              <a:t>, Sex, Exercise_Past_30_Days, </a:t>
            </a:r>
            <a:r>
              <a:rPr lang="en-US" sz="1400" b="1" err="1">
                <a:solidFill>
                  <a:schemeClr val="tx1"/>
                </a:solidFill>
                <a:ea typeface="+mn-lt"/>
                <a:cs typeface="+mn-lt"/>
              </a:rPr>
              <a:t>Diabetes_Status</a:t>
            </a:r>
            <a:r>
              <a:rPr lang="en-US" sz="1400" b="1">
                <a:solidFill>
                  <a:schemeClr val="tx1"/>
                </a:solidFill>
                <a:ea typeface="+mn-lt"/>
                <a:cs typeface="+mn-lt"/>
              </a:rPr>
              <a:t>, </a:t>
            </a:r>
            <a:r>
              <a:rPr lang="en-US" sz="1400" b="1" err="1">
                <a:solidFill>
                  <a:schemeClr val="tx1"/>
                </a:solidFill>
                <a:ea typeface="+mn-lt"/>
                <a:cs typeface="+mn-lt"/>
              </a:rPr>
              <a:t>Smoking_Status</a:t>
            </a:r>
            <a:r>
              <a:rPr lang="en-US" sz="1400" b="1">
                <a:solidFill>
                  <a:schemeClr val="tx1"/>
                </a:solidFill>
                <a:ea typeface="+mn-lt"/>
                <a:cs typeface="+mn-lt"/>
              </a:rPr>
              <a:t>, and </a:t>
            </a:r>
            <a:r>
              <a:rPr lang="en-US" sz="1400" b="1" err="1">
                <a:solidFill>
                  <a:schemeClr val="tx1"/>
                </a:solidFill>
                <a:ea typeface="+mn-lt"/>
                <a:cs typeface="+mn-lt"/>
              </a:rPr>
              <a:t>BMI_Category_Alt</a:t>
            </a:r>
            <a:r>
              <a:rPr lang="en-US" sz="1400">
                <a:solidFill>
                  <a:schemeClr val="tx1"/>
                </a:solidFill>
                <a:ea typeface="+mn-lt"/>
                <a:cs typeface="+mn-lt"/>
              </a:rPr>
              <a:t>. Using statistical methods, including T-tests, Chi-square tests, and ANOVA, we analyze these variables to address SMART questions, summarizing findings to deliver actionable insights for public health strategies.</a:t>
            </a:r>
            <a:endParaRPr lang="en-US">
              <a:solidFill>
                <a:schemeClr val="tx1"/>
              </a:solidFill>
            </a:endParaRPr>
          </a:p>
          <a:p>
            <a:endParaRPr lang="en-US" sz="1400">
              <a:solidFill>
                <a:schemeClr val="tx1"/>
              </a:solidFill>
            </a:endParaRPr>
          </a:p>
          <a:p>
            <a:r>
              <a:rPr lang="en-US" sz="2400">
                <a:solidFill>
                  <a:schemeClr val="tx1"/>
                </a:solidFill>
              </a:rPr>
              <a:t>Raw Data Transformation Process:</a:t>
            </a:r>
          </a:p>
          <a:p>
            <a:endParaRPr lang="en-US" sz="2400">
              <a:solidFill>
                <a:schemeClr val="tx1"/>
              </a:solidFill>
            </a:endParaRPr>
          </a:p>
          <a:p>
            <a:endParaRPr lang="en-US" sz="1400">
              <a:solidFill>
                <a:schemeClr val="tx1"/>
              </a:solidFill>
            </a:endParaRPr>
          </a:p>
          <a:p>
            <a:pPr marL="285750" indent="-285750">
              <a:buChar char="•"/>
            </a:pPr>
            <a:endParaRPr lang="en-US" sz="2600">
              <a:solidFill>
                <a:schemeClr val="tx1"/>
              </a:solidFill>
            </a:endParaRPr>
          </a:p>
          <a:p>
            <a:r>
              <a:rPr lang="en-US" sz="2000">
                <a:solidFill>
                  <a:schemeClr val="tx1"/>
                </a:solidFill>
              </a:rPr>
              <a:t>   </a:t>
            </a:r>
            <a:endParaRPr lang="en-US" sz="2000">
              <a:solidFill>
                <a:schemeClr val="tx1"/>
              </a:solidFill>
              <a:ea typeface="+mn-lt"/>
              <a:cs typeface="+mn-lt"/>
            </a:endParaRPr>
          </a:p>
          <a:p>
            <a:r>
              <a:rPr lang="en-US">
                <a:solidFill>
                  <a:schemeClr val="tx1"/>
                </a:solidFill>
              </a:rPr>
              <a:t> </a:t>
            </a:r>
          </a:p>
        </p:txBody>
      </p:sp>
      <p:sp>
        <p:nvSpPr>
          <p:cNvPr id="19" name="Text Placeholder 2">
            <a:extLst>
              <a:ext uri="{FF2B5EF4-FFF2-40B4-BE49-F238E27FC236}">
                <a16:creationId xmlns:a16="http://schemas.microsoft.com/office/drawing/2014/main" id="{C8F8AA25-1264-8253-35E7-01E1598B3BF2}"/>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864C2231-6E85-7D8C-9FD8-56FBA3F4008D}"/>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6</a:t>
            </a:fld>
            <a:endParaRPr lang="en-US">
              <a:solidFill>
                <a:schemeClr val="tx1"/>
              </a:solidFill>
            </a:endParaRPr>
          </a:p>
        </p:txBody>
      </p:sp>
      <p:graphicFrame>
        <p:nvGraphicFramePr>
          <p:cNvPr id="3" name="Diagram 2">
            <a:extLst>
              <a:ext uri="{FF2B5EF4-FFF2-40B4-BE49-F238E27FC236}">
                <a16:creationId xmlns:a16="http://schemas.microsoft.com/office/drawing/2014/main" id="{F3D756EE-A5CD-436D-4CAA-4FD570D2CB80}"/>
              </a:ext>
            </a:extLst>
          </p:cNvPr>
          <p:cNvGraphicFramePr/>
          <p:nvPr/>
        </p:nvGraphicFramePr>
        <p:xfrm>
          <a:off x="1888754" y="1283490"/>
          <a:ext cx="9843440" cy="76604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3891015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FD2C16BA-6810-4B59-357C-E4F3C74CB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CA84C-B0A1-6044-1410-29ED5AE23D89}"/>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summary</a:t>
            </a:r>
            <a:endParaRPr lang="en-ZA" dirty="0">
              <a:solidFill>
                <a:schemeClr val="accent2"/>
              </a:solidFill>
            </a:endParaRPr>
          </a:p>
        </p:txBody>
      </p:sp>
      <p:sp>
        <p:nvSpPr>
          <p:cNvPr id="19" name="Text Placeholder 2">
            <a:extLst>
              <a:ext uri="{FF2B5EF4-FFF2-40B4-BE49-F238E27FC236}">
                <a16:creationId xmlns:a16="http://schemas.microsoft.com/office/drawing/2014/main" id="{48A31944-91A9-DB3D-4790-224E47517441}"/>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78A44317-3ADD-14C8-F318-AB011044DF6E}"/>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7</a:t>
            </a:fld>
            <a:endParaRPr lang="en-US" dirty="0">
              <a:solidFill>
                <a:schemeClr val="tx1"/>
              </a:solidFill>
            </a:endParaRPr>
          </a:p>
        </p:txBody>
      </p:sp>
      <p:sp>
        <p:nvSpPr>
          <p:cNvPr id="32" name="Content Placeholder 31">
            <a:extLst>
              <a:ext uri="{FF2B5EF4-FFF2-40B4-BE49-F238E27FC236}">
                <a16:creationId xmlns:a16="http://schemas.microsoft.com/office/drawing/2014/main" id="{5BF0710C-0B24-2ADE-D444-2A34A784C850}"/>
              </a:ext>
            </a:extLst>
          </p:cNvPr>
          <p:cNvSpPr>
            <a:spLocks noGrp="1"/>
          </p:cNvSpPr>
          <p:nvPr>
            <p:ph sz="half" idx="15"/>
          </p:nvPr>
        </p:nvSpPr>
        <p:spPr>
          <a:xfrm>
            <a:off x="1552575" y="2087586"/>
            <a:ext cx="8648054" cy="4262130"/>
          </a:xfrm>
        </p:spPr>
        <p:txBody>
          <a:bodyPr vert="horz" lIns="91440" tIns="45720" rIns="91440" bIns="45720" rtlCol="0" anchor="t">
            <a:normAutofit fontScale="55000" lnSpcReduction="20000"/>
          </a:bodyPr>
          <a:lstStyle/>
          <a:p>
            <a:endParaRPr lang="en-US" dirty="0">
              <a:solidFill>
                <a:schemeClr val="tx1"/>
              </a:solidFill>
              <a:ea typeface="+mn-lt"/>
              <a:cs typeface="+mn-lt"/>
            </a:endParaRPr>
          </a:p>
          <a:p>
            <a:pPr marL="285750" indent="-285750">
              <a:buChar char="•"/>
            </a:pPr>
            <a:r>
              <a:rPr lang="en-US" sz="2600" b="1" u="sng" dirty="0">
                <a:solidFill>
                  <a:schemeClr val="tx1"/>
                </a:solidFill>
                <a:ea typeface="+mn-lt"/>
                <a:cs typeface="+mn-lt"/>
              </a:rPr>
              <a:t>BMI and CHD:</a:t>
            </a:r>
            <a:r>
              <a:rPr lang="en-US" sz="2600" dirty="0">
                <a:solidFill>
                  <a:schemeClr val="tx1"/>
                </a:solidFill>
                <a:ea typeface="+mn-lt"/>
                <a:cs typeface="+mn-lt"/>
              </a:rPr>
              <a:t> There is a statistically significant difference in BMI between individuals with and without CHD, indicating that those with the condition tend to have a higher average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Smoking and CHD: </a:t>
            </a:r>
            <a:r>
              <a:rPr lang="en-US" sz="2600" dirty="0">
                <a:solidFill>
                  <a:schemeClr val="tx1"/>
                </a:solidFill>
                <a:ea typeface="+mn-lt"/>
                <a:cs typeface="+mn-lt"/>
              </a:rPr>
              <a:t>The analysis showed a very strong relationship between smoking status and CHD, with smokers being significantly more likely to have the disease.</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General Health and BMI:</a:t>
            </a:r>
            <a:r>
              <a:rPr lang="en-US" sz="2600" u="sng" dirty="0">
                <a:solidFill>
                  <a:schemeClr val="tx1"/>
                </a:solidFill>
                <a:ea typeface="+mn-lt"/>
                <a:cs typeface="+mn-lt"/>
              </a:rPr>
              <a:t> </a:t>
            </a:r>
            <a:r>
              <a:rPr lang="en-US" sz="2600" dirty="0">
                <a:solidFill>
                  <a:schemeClr val="tx1"/>
                </a:solidFill>
                <a:ea typeface="+mn-lt"/>
                <a:cs typeface="+mn-lt"/>
              </a:rPr>
              <a:t>A significant variation was found in BMI across different self-reported health levels, suggesting a clear link between an individual's perceived health and their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Exercise and BMI:</a:t>
            </a:r>
            <a:r>
              <a:rPr lang="en-US" sz="2600" b="1" dirty="0">
                <a:solidFill>
                  <a:schemeClr val="tx1"/>
                </a:solidFill>
                <a:ea typeface="+mn-lt"/>
                <a:cs typeface="+mn-lt"/>
              </a:rPr>
              <a:t> </a:t>
            </a:r>
            <a:r>
              <a:rPr lang="en-US" sz="2600" dirty="0">
                <a:solidFill>
                  <a:schemeClr val="tx1"/>
                </a:solidFill>
                <a:ea typeface="+mn-lt"/>
                <a:cs typeface="+mn-lt"/>
              </a:rPr>
              <a:t>The study found a very strong relationship between exercise participation and BMI category, highlighting the crucial role of physical activity in weight management and maintaining a healthier BMI.</a:t>
            </a:r>
            <a:endParaRPr lang="en-US" sz="2600">
              <a:solidFill>
                <a:schemeClr val="tx1"/>
              </a:solidFill>
            </a:endParaRPr>
          </a:p>
          <a:p>
            <a:pPr marL="285750" indent="-285750">
              <a:buChar char="•"/>
            </a:pPr>
            <a:endParaRPr lang="en-US" sz="2600" dirty="0">
              <a:solidFill>
                <a:schemeClr val="tx1"/>
              </a:solidFill>
              <a:ea typeface="+mn-lt"/>
              <a:cs typeface="+mn-lt"/>
            </a:endParaRPr>
          </a:p>
          <a:p>
            <a:pPr marL="285750" indent="-285750">
              <a:buChar char="•"/>
            </a:pPr>
            <a:r>
              <a:rPr lang="en-US" sz="2600" b="1" u="sng" dirty="0">
                <a:solidFill>
                  <a:schemeClr val="tx1"/>
                </a:solidFill>
                <a:ea typeface="+mn-lt"/>
                <a:cs typeface="+mn-lt"/>
              </a:rPr>
              <a:t>Diabetes and CHD</a:t>
            </a:r>
            <a:r>
              <a:rPr lang="en-US" sz="2600" u="sng" dirty="0">
                <a:solidFill>
                  <a:schemeClr val="tx1"/>
                </a:solidFill>
                <a:ea typeface="+mn-lt"/>
                <a:cs typeface="+mn-lt"/>
              </a:rPr>
              <a:t>:</a:t>
            </a:r>
            <a:r>
              <a:rPr lang="en-US" sz="2600" dirty="0">
                <a:solidFill>
                  <a:schemeClr val="tx1"/>
                </a:solidFill>
                <a:ea typeface="+mn-lt"/>
                <a:cs typeface="+mn-lt"/>
              </a:rPr>
              <a:t> A strong association was confirmed between diabetes status and coronary heart disease, suggesting that individuals with diabetes have a much higher likelihood of developing CHD compared to those without the condition.</a:t>
            </a:r>
            <a:endParaRPr lang="en-US" sz="2600">
              <a:solidFill>
                <a:schemeClr val="tx1"/>
              </a:solidFill>
            </a:endParaRPr>
          </a:p>
          <a:p>
            <a:r>
              <a:rPr lang="en-US" sz="2000" dirty="0">
                <a:solidFill>
                  <a:schemeClr val="tx1"/>
                </a:solidFill>
              </a:rPr>
              <a:t>   </a:t>
            </a:r>
            <a:endParaRPr lang="en-US" sz="2000" dirty="0">
              <a:solidFill>
                <a:schemeClr val="tx1"/>
              </a:solidFill>
              <a:ea typeface="+mn-lt"/>
              <a:cs typeface="+mn-lt"/>
            </a:endParaRPr>
          </a:p>
          <a:p>
            <a:r>
              <a:rPr lang="en-US" dirty="0">
                <a:solidFill>
                  <a:schemeClr val="tx1"/>
                </a:solidFill>
              </a:rPr>
              <a:t> </a:t>
            </a:r>
          </a:p>
        </p:txBody>
      </p:sp>
    </p:spTree>
    <p:extLst>
      <p:ext uri="{BB962C8B-B14F-4D97-AF65-F5344CB8AC3E}">
        <p14:creationId xmlns:p14="http://schemas.microsoft.com/office/powerpoint/2010/main" val="278697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335680EB-48EE-35C9-D2A5-355F7BA03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64792-5512-1744-F311-F270C4DE67C2}"/>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proposal</a:t>
            </a:r>
            <a:endParaRPr lang="en-ZA" dirty="0">
              <a:solidFill>
                <a:schemeClr val="accent2"/>
              </a:solidFill>
            </a:endParaRPr>
          </a:p>
        </p:txBody>
      </p:sp>
      <p:sp>
        <p:nvSpPr>
          <p:cNvPr id="19" name="Text Placeholder 2">
            <a:extLst>
              <a:ext uri="{FF2B5EF4-FFF2-40B4-BE49-F238E27FC236}">
                <a16:creationId xmlns:a16="http://schemas.microsoft.com/office/drawing/2014/main" id="{E70F2EAE-3736-667A-6140-4B9224DAE440}"/>
              </a:ext>
            </a:extLst>
          </p:cNvPr>
          <p:cNvSpPr>
            <a:spLocks noGrp="1"/>
          </p:cNvSpPr>
          <p:nvPr>
            <p:ph type="body" sz="quarter" idx="14"/>
          </p:nvPr>
        </p:nvSpPr>
        <p:spPr>
          <a:xfrm>
            <a:off x="8372723" y="2481940"/>
            <a:ext cx="3046391" cy="3759200"/>
          </a:xfrm>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FAD14A0F-4A0A-376D-C23F-9441E23C2A8E}"/>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8</a:t>
            </a:fld>
            <a:endParaRPr lang="en-US" dirty="0">
              <a:solidFill>
                <a:schemeClr val="tx1"/>
              </a:solidFill>
            </a:endParaRPr>
          </a:p>
        </p:txBody>
      </p:sp>
      <p:sp>
        <p:nvSpPr>
          <p:cNvPr id="32" name="Content Placeholder 31">
            <a:extLst>
              <a:ext uri="{FF2B5EF4-FFF2-40B4-BE49-F238E27FC236}">
                <a16:creationId xmlns:a16="http://schemas.microsoft.com/office/drawing/2014/main" id="{7AABBB23-FE99-0B4B-478A-59C3B54668EC}"/>
              </a:ext>
            </a:extLst>
          </p:cNvPr>
          <p:cNvSpPr>
            <a:spLocks noGrp="1"/>
          </p:cNvSpPr>
          <p:nvPr>
            <p:ph sz="half" idx="15"/>
          </p:nvPr>
        </p:nvSpPr>
        <p:spPr>
          <a:xfrm>
            <a:off x="1552575" y="1711805"/>
            <a:ext cx="8648054" cy="4815362"/>
          </a:xfrm>
        </p:spPr>
        <p:txBody>
          <a:bodyPr vert="horz" lIns="91440" tIns="45720" rIns="91440" bIns="45720" rtlCol="0" anchor="t">
            <a:normAutofit/>
          </a:bodyPr>
          <a:lstStyle/>
          <a:p>
            <a:endParaRPr lang="en-US" dirty="0">
              <a:solidFill>
                <a:schemeClr val="tx1"/>
              </a:solidFill>
              <a:ea typeface="+mn-lt"/>
              <a:cs typeface="+mn-lt"/>
            </a:endParaRPr>
          </a:p>
          <a:p>
            <a:r>
              <a:rPr lang="en-US" dirty="0">
                <a:solidFill>
                  <a:schemeClr val="tx1"/>
                </a:solidFill>
              </a:rPr>
              <a:t> </a:t>
            </a:r>
          </a:p>
        </p:txBody>
      </p:sp>
      <p:graphicFrame>
        <p:nvGraphicFramePr>
          <p:cNvPr id="5" name="Table 4">
            <a:extLst>
              <a:ext uri="{FF2B5EF4-FFF2-40B4-BE49-F238E27FC236}">
                <a16:creationId xmlns:a16="http://schemas.microsoft.com/office/drawing/2014/main" id="{0215219D-95F9-B81E-2A84-6D5D1B506AD6}"/>
              </a:ext>
            </a:extLst>
          </p:cNvPr>
          <p:cNvGraphicFramePr>
            <a:graphicFrameLocks noGrp="1"/>
          </p:cNvGraphicFramePr>
          <p:nvPr>
            <p:extLst>
              <p:ext uri="{D42A27DB-BD31-4B8C-83A1-F6EECF244321}">
                <p14:modId xmlns:p14="http://schemas.microsoft.com/office/powerpoint/2010/main" val="708637218"/>
              </p:ext>
            </p:extLst>
          </p:nvPr>
        </p:nvGraphicFramePr>
        <p:xfrm>
          <a:off x="1552392" y="1672267"/>
          <a:ext cx="9654146" cy="4481168"/>
        </p:xfrm>
        <a:graphic>
          <a:graphicData uri="http://schemas.openxmlformats.org/drawingml/2006/table">
            <a:tbl>
              <a:tblPr firstRow="1" bandRow="1">
                <a:tableStyleId>{C4B1156A-380E-4F78-BDF5-A606A8083BF9}</a:tableStyleId>
              </a:tblPr>
              <a:tblGrid>
                <a:gridCol w="3410259">
                  <a:extLst>
                    <a:ext uri="{9D8B030D-6E8A-4147-A177-3AD203B41FA5}">
                      <a16:colId xmlns:a16="http://schemas.microsoft.com/office/drawing/2014/main" val="2526543635"/>
                    </a:ext>
                  </a:extLst>
                </a:gridCol>
                <a:gridCol w="6243887">
                  <a:extLst>
                    <a:ext uri="{9D8B030D-6E8A-4147-A177-3AD203B41FA5}">
                      <a16:colId xmlns:a16="http://schemas.microsoft.com/office/drawing/2014/main" val="2309547015"/>
                    </a:ext>
                  </a:extLst>
                </a:gridCol>
              </a:tblGrid>
              <a:tr h="982582">
                <a:tc>
                  <a:txBody>
                    <a:bodyPr/>
                    <a:lstStyle/>
                    <a:p>
                      <a:pPr lvl="0" algn="ctr">
                        <a:buNone/>
                      </a:pPr>
                      <a:r>
                        <a:rPr lang="en-US" sz="1800" b="1" i="0" u="none" strike="noStrike" baseline="0" noProof="0" dirty="0">
                          <a:solidFill>
                            <a:srgbClr val="000000"/>
                          </a:solidFill>
                          <a:latin typeface="Avenir Next LT Pro"/>
                        </a:rPr>
                        <a:t>Problem Statement</a:t>
                      </a:r>
                      <a:endParaRPr lang="en-US" dirty="0"/>
                    </a:p>
                  </a:txBody>
                  <a:tcPr anchor="ctr"/>
                </a:tc>
                <a:tc>
                  <a:txBody>
                    <a:bodyPr/>
                    <a:lstStyle/>
                    <a:p>
                      <a:pPr marL="0" lvl="0" indent="0" algn="l">
                        <a:lnSpc>
                          <a:spcPct val="100000"/>
                        </a:lnSpc>
                        <a:buNone/>
                      </a:pPr>
                      <a:r>
                        <a:rPr lang="en-US" sz="1400" b="0" i="0" u="none" strike="noStrike" baseline="0" noProof="0" dirty="0">
                          <a:solidFill>
                            <a:srgbClr val="000000"/>
                          </a:solidFill>
                          <a:latin typeface="Avenir Next LT Pro"/>
                        </a:rPr>
                        <a:t>This project describes a quantitative study aimed at identifying and validating important lifestyle, health, and demographic characteristics that are strongly linked to the diagnosis of coronary heart disease (CHD).</a:t>
                      </a:r>
                      <a:endParaRPr lang="en-US" dirty="0"/>
                    </a:p>
                  </a:txBody>
                  <a:tcPr anchor="ctr"/>
                </a:tc>
                <a:extLst>
                  <a:ext uri="{0D108BD9-81ED-4DB2-BD59-A6C34878D82A}">
                    <a16:rowId xmlns:a16="http://schemas.microsoft.com/office/drawing/2014/main" val="191226038"/>
                  </a:ext>
                </a:extLst>
              </a:tr>
              <a:tr h="1176120">
                <a:tc>
                  <a:txBody>
                    <a:bodyPr/>
                    <a:lstStyle/>
                    <a:p>
                      <a:pPr lvl="0" algn="ctr">
                        <a:buNone/>
                      </a:pPr>
                      <a:r>
                        <a:rPr lang="en-US" sz="1800" b="1" i="0" u="none" strike="noStrike" baseline="0" noProof="0" dirty="0">
                          <a:solidFill>
                            <a:srgbClr val="000000"/>
                          </a:solidFill>
                          <a:latin typeface="Avenir Next LT Pro"/>
                        </a:rPr>
                        <a:t>Objective</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The main objective is to statistically identify the significant correlations between chosen health measurements, lifestyle decisions, and a diagnosis of coronary heart disease.</a:t>
                      </a:r>
                      <a:endParaRPr lang="en-US" sz="1400" dirty="0"/>
                    </a:p>
                  </a:txBody>
                  <a:tcPr anchor="ctr"/>
                </a:tc>
                <a:extLst>
                  <a:ext uri="{0D108BD9-81ED-4DB2-BD59-A6C34878D82A}">
                    <a16:rowId xmlns:a16="http://schemas.microsoft.com/office/drawing/2014/main" val="3784617054"/>
                  </a:ext>
                </a:extLst>
              </a:tr>
              <a:tr h="982582">
                <a:tc>
                  <a:txBody>
                    <a:bodyPr/>
                    <a:lstStyle/>
                    <a:p>
                      <a:pPr lvl="0" algn="ctr">
                        <a:buNone/>
                      </a:pPr>
                      <a:r>
                        <a:rPr lang="en-US" sz="1800" b="1" i="0" u="none" strike="noStrike" baseline="0" noProof="0" dirty="0">
                          <a:solidFill>
                            <a:srgbClr val="000000"/>
                          </a:solidFill>
                          <a:latin typeface="Avenir Next LT Pro"/>
                        </a:rPr>
                        <a:t>Dataset</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A big public health dataset from the Behavioral Risk Factor Surveillance System (BRFSS) 2024 is used in this project. The Centers for Disease Control and Prevention (CDC) provided the information.</a:t>
                      </a:r>
                      <a:endParaRPr lang="en-US" sz="1400" dirty="0"/>
                    </a:p>
                  </a:txBody>
                  <a:tcPr anchor="ctr"/>
                </a:tc>
                <a:extLst>
                  <a:ext uri="{0D108BD9-81ED-4DB2-BD59-A6C34878D82A}">
                    <a16:rowId xmlns:a16="http://schemas.microsoft.com/office/drawing/2014/main" val="3040979327"/>
                  </a:ext>
                </a:extLst>
              </a:tr>
              <a:tr h="1339884">
                <a:tc>
                  <a:txBody>
                    <a:bodyPr/>
                    <a:lstStyle/>
                    <a:p>
                      <a:pPr lvl="0" algn="ctr">
                        <a:buNone/>
                      </a:pPr>
                      <a:r>
                        <a:rPr lang="en-US" sz="1800" b="1" i="0" u="none" strike="noStrike" baseline="0" noProof="0" dirty="0">
                          <a:solidFill>
                            <a:srgbClr val="000000"/>
                          </a:solidFill>
                          <a:latin typeface="Avenir Next LT Pro"/>
                        </a:rPr>
                        <a:t>Methodology</a:t>
                      </a:r>
                      <a:endParaRPr lang="en-US" b="1" dirty="0"/>
                    </a:p>
                  </a:txBody>
                  <a:tcPr anchor="ctr"/>
                </a:tc>
                <a:tc>
                  <a:txBody>
                    <a:bodyPr/>
                    <a:lstStyle/>
                    <a:p>
                      <a:pPr lvl="0">
                        <a:buNone/>
                      </a:pPr>
                      <a:r>
                        <a:rPr lang="en-US" sz="1400" b="0" i="0" u="none" strike="noStrike" baseline="0" noProof="0" dirty="0">
                          <a:solidFill>
                            <a:srgbClr val="000000"/>
                          </a:solidFill>
                          <a:latin typeface="Avenir Next LT Pro"/>
                        </a:rPr>
                        <a:t>In order to examine the link between CHD and variables including BMI, smoking status, diabetes, and general health, the project uses strong statistical techniques, such as the tests listed below. The findings will offer evidence-based perspectives to help prioritize public health intervention tactics.</a:t>
                      </a:r>
                      <a:endParaRPr lang="en-US" sz="1400" dirty="0"/>
                    </a:p>
                  </a:txBody>
                  <a:tcPr anchor="ctr"/>
                </a:tc>
                <a:extLst>
                  <a:ext uri="{0D108BD9-81ED-4DB2-BD59-A6C34878D82A}">
                    <a16:rowId xmlns:a16="http://schemas.microsoft.com/office/drawing/2014/main" val="1905449660"/>
                  </a:ext>
                </a:extLst>
              </a:tr>
            </a:tbl>
          </a:graphicData>
        </a:graphic>
      </p:graphicFrame>
    </p:spTree>
    <p:extLst>
      <p:ext uri="{BB962C8B-B14F-4D97-AF65-F5344CB8AC3E}">
        <p14:creationId xmlns:p14="http://schemas.microsoft.com/office/powerpoint/2010/main" val="1453926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CADF1FD6-074E-5288-221F-9437C2CA8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15C35-3DE1-AC88-F995-E04DDB10D8FB}"/>
              </a:ext>
            </a:extLst>
          </p:cNvPr>
          <p:cNvSpPr>
            <a:spLocks noGrp="1"/>
          </p:cNvSpPr>
          <p:nvPr>
            <p:ph type="title"/>
          </p:nvPr>
        </p:nvSpPr>
        <p:spPr>
          <a:xfrm>
            <a:off x="1552574" y="854358"/>
            <a:ext cx="9866540" cy="1358140"/>
          </a:xfrm>
        </p:spPr>
        <p:txBody>
          <a:bodyPr anchor="t">
            <a:normAutofit/>
          </a:bodyPr>
          <a:lstStyle/>
          <a:p>
            <a:r>
              <a:rPr lang="en-US" dirty="0">
                <a:solidFill>
                  <a:schemeClr val="accent2"/>
                </a:solidFill>
              </a:rPr>
              <a:t>Smart questions</a:t>
            </a:r>
            <a:endParaRPr lang="en-ZA" dirty="0">
              <a:solidFill>
                <a:schemeClr val="accent2"/>
              </a:solidFill>
            </a:endParaRPr>
          </a:p>
        </p:txBody>
      </p:sp>
      <p:sp>
        <p:nvSpPr>
          <p:cNvPr id="32" name="Content Placeholder 31">
            <a:extLst>
              <a:ext uri="{FF2B5EF4-FFF2-40B4-BE49-F238E27FC236}">
                <a16:creationId xmlns:a16="http://schemas.microsoft.com/office/drawing/2014/main" id="{13974F6D-92DF-45BD-F7C8-4C5012FE0C88}"/>
              </a:ext>
            </a:extLst>
          </p:cNvPr>
          <p:cNvSpPr>
            <a:spLocks noGrp="1"/>
          </p:cNvSpPr>
          <p:nvPr>
            <p:ph sz="half" idx="15"/>
          </p:nvPr>
        </p:nvSpPr>
        <p:spPr>
          <a:xfrm>
            <a:off x="1552575" y="2087586"/>
            <a:ext cx="8648054" cy="4262130"/>
          </a:xfrm>
        </p:spPr>
        <p:txBody>
          <a:bodyPr vert="horz" lIns="91440" tIns="45720" rIns="91440" bIns="45720" rtlCol="0" anchor="t">
            <a:normAutofit/>
          </a:bodyPr>
          <a:lstStyle/>
          <a:p>
            <a:r>
              <a:rPr lang="en-US" sz="2000">
                <a:solidFill>
                  <a:schemeClr val="tx1"/>
                </a:solidFill>
              </a:rPr>
              <a:t>   </a:t>
            </a:r>
            <a:endParaRPr lang="en-US" sz="2000">
              <a:solidFill>
                <a:schemeClr val="tx1"/>
              </a:solidFill>
              <a:ea typeface="+mn-lt"/>
              <a:cs typeface="+mn-lt"/>
            </a:endParaRPr>
          </a:p>
          <a:p>
            <a:r>
              <a:rPr lang="en-US">
                <a:solidFill>
                  <a:schemeClr val="tx1"/>
                </a:solidFill>
              </a:rPr>
              <a:t> </a:t>
            </a:r>
          </a:p>
        </p:txBody>
      </p:sp>
      <p:sp>
        <p:nvSpPr>
          <p:cNvPr id="19" name="Text Placeholder 2">
            <a:extLst>
              <a:ext uri="{FF2B5EF4-FFF2-40B4-BE49-F238E27FC236}">
                <a16:creationId xmlns:a16="http://schemas.microsoft.com/office/drawing/2014/main" id="{B1C893BE-813A-FCDD-82D2-4221DE642F12}"/>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653C3FA9-1F4B-7AB2-ED10-CDCFCF8EDD7E}"/>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9</a:t>
            </a:fld>
            <a:endParaRPr lang="en-US">
              <a:solidFill>
                <a:schemeClr val="tx1"/>
              </a:solidFill>
            </a:endParaRPr>
          </a:p>
        </p:txBody>
      </p:sp>
      <p:graphicFrame>
        <p:nvGraphicFramePr>
          <p:cNvPr id="3" name="Diagram 2">
            <a:extLst>
              <a:ext uri="{FF2B5EF4-FFF2-40B4-BE49-F238E27FC236}">
                <a16:creationId xmlns:a16="http://schemas.microsoft.com/office/drawing/2014/main" id="{B428D125-496B-AD00-03EC-5ADD2AE3A291}"/>
              </a:ext>
            </a:extLst>
          </p:cNvPr>
          <p:cNvGraphicFramePr/>
          <p:nvPr/>
        </p:nvGraphicFramePr>
        <p:xfrm>
          <a:off x="2596883" y="1748643"/>
          <a:ext cx="7777922" cy="46077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67888376"/>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E9210674-2E58-84C1-43B2-E1910EEB2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643BD-ED25-4F9C-CAB5-CF1A07B81B23}"/>
              </a:ext>
            </a:extLst>
          </p:cNvPr>
          <p:cNvSpPr>
            <a:spLocks noGrp="1"/>
          </p:cNvSpPr>
          <p:nvPr>
            <p:ph type="title"/>
          </p:nvPr>
        </p:nvSpPr>
        <p:spPr>
          <a:xfrm>
            <a:off x="1552574" y="854358"/>
            <a:ext cx="9866540" cy="1358140"/>
          </a:xfrm>
        </p:spPr>
        <p:txBody>
          <a:bodyPr anchor="t">
            <a:noAutofit/>
          </a:bodyPr>
          <a:lstStyle/>
          <a:p>
            <a:r>
              <a:rPr lang="en-US" sz="2000" dirty="0">
                <a:solidFill>
                  <a:schemeClr val="accent2"/>
                </a:solidFill>
              </a:rPr>
              <a:t>Question 1: Is there a significant difference in BMI between people with and without coronary heart disease?</a:t>
            </a:r>
          </a:p>
        </p:txBody>
      </p:sp>
      <p:sp>
        <p:nvSpPr>
          <p:cNvPr id="6" name="Slide Number Placeholder 5">
            <a:extLst>
              <a:ext uri="{FF2B5EF4-FFF2-40B4-BE49-F238E27FC236}">
                <a16:creationId xmlns:a16="http://schemas.microsoft.com/office/drawing/2014/main" id="{864C2231-6E85-7D8C-9FD8-56FBA3F4008D}"/>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10</a:t>
            </a:fld>
            <a:endParaRPr lang="en-US">
              <a:solidFill>
                <a:schemeClr val="tx1"/>
              </a:solidFill>
            </a:endParaRPr>
          </a:p>
        </p:txBody>
      </p:sp>
      <p:pic>
        <p:nvPicPr>
          <p:cNvPr id="4" name="圖片 3">
            <a:extLst>
              <a:ext uri="{FF2B5EF4-FFF2-40B4-BE49-F238E27FC236}">
                <a16:creationId xmlns:a16="http://schemas.microsoft.com/office/drawing/2014/main" id="{4C2375E1-B778-2779-3836-7CEBDBF3FAD8}"/>
              </a:ext>
            </a:extLst>
          </p:cNvPr>
          <p:cNvPicPr>
            <a:picLocks noChangeAspect="1"/>
          </p:cNvPicPr>
          <p:nvPr/>
        </p:nvPicPr>
        <p:blipFill>
          <a:blip r:embed="rId4"/>
          <a:stretch>
            <a:fillRect/>
          </a:stretch>
        </p:blipFill>
        <p:spPr>
          <a:xfrm>
            <a:off x="4309308" y="3840047"/>
            <a:ext cx="4353071" cy="2619904"/>
          </a:xfrm>
          <a:prstGeom prst="rect">
            <a:avLst/>
          </a:prstGeom>
        </p:spPr>
      </p:pic>
      <p:pic>
        <p:nvPicPr>
          <p:cNvPr id="5" name="圖片 4">
            <a:extLst>
              <a:ext uri="{FF2B5EF4-FFF2-40B4-BE49-F238E27FC236}">
                <a16:creationId xmlns:a16="http://schemas.microsoft.com/office/drawing/2014/main" id="{5A21EDBF-22AD-769A-F042-2570D109ACE6}"/>
              </a:ext>
            </a:extLst>
          </p:cNvPr>
          <p:cNvPicPr>
            <a:picLocks noChangeAspect="1"/>
          </p:cNvPicPr>
          <p:nvPr/>
        </p:nvPicPr>
        <p:blipFill>
          <a:blip r:embed="rId5"/>
          <a:stretch>
            <a:fillRect/>
          </a:stretch>
        </p:blipFill>
        <p:spPr>
          <a:xfrm>
            <a:off x="3182857" y="1836334"/>
            <a:ext cx="5826285" cy="1875382"/>
          </a:xfrm>
          <a:prstGeom prst="rect">
            <a:avLst/>
          </a:prstGeom>
        </p:spPr>
      </p:pic>
    </p:spTree>
    <p:extLst>
      <p:ext uri="{BB962C8B-B14F-4D97-AF65-F5344CB8AC3E}">
        <p14:creationId xmlns:p14="http://schemas.microsoft.com/office/powerpoint/2010/main" val="154087068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CADF1FD6-074E-5288-221F-9437C2CA8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15C35-3DE1-AC88-F995-E04DDB10D8FB}"/>
              </a:ext>
            </a:extLst>
          </p:cNvPr>
          <p:cNvSpPr>
            <a:spLocks noGrp="1"/>
          </p:cNvSpPr>
          <p:nvPr>
            <p:ph type="title"/>
          </p:nvPr>
        </p:nvSpPr>
        <p:spPr>
          <a:xfrm>
            <a:off x="1552574" y="854358"/>
            <a:ext cx="9866540" cy="1358140"/>
          </a:xfrm>
        </p:spPr>
        <p:txBody>
          <a:bodyPr anchor="t">
            <a:normAutofit/>
          </a:bodyPr>
          <a:lstStyle/>
          <a:p>
            <a:r>
              <a:rPr lang="en-US" sz="2000" dirty="0">
                <a:solidFill>
                  <a:schemeClr val="accent2"/>
                </a:solidFill>
              </a:rPr>
              <a:t>Question 2: Is smoking status associated with coronary heart disease?</a:t>
            </a:r>
          </a:p>
        </p:txBody>
      </p:sp>
      <p:sp>
        <p:nvSpPr>
          <p:cNvPr id="32" name="Content Placeholder 31">
            <a:extLst>
              <a:ext uri="{FF2B5EF4-FFF2-40B4-BE49-F238E27FC236}">
                <a16:creationId xmlns:a16="http://schemas.microsoft.com/office/drawing/2014/main" id="{13974F6D-92DF-45BD-F7C8-4C5012FE0C88}"/>
              </a:ext>
            </a:extLst>
          </p:cNvPr>
          <p:cNvSpPr>
            <a:spLocks noGrp="1"/>
          </p:cNvSpPr>
          <p:nvPr>
            <p:ph sz="half" idx="15"/>
          </p:nvPr>
        </p:nvSpPr>
        <p:spPr>
          <a:xfrm>
            <a:off x="1552575" y="2087586"/>
            <a:ext cx="8648054" cy="4262130"/>
          </a:xfrm>
        </p:spPr>
        <p:txBody>
          <a:bodyPr vert="horz" lIns="91440" tIns="45720" rIns="91440" bIns="45720" rtlCol="0" anchor="t">
            <a:normAutofit/>
          </a:bodyPr>
          <a:lstStyle/>
          <a:p>
            <a:r>
              <a:rPr lang="en-US" sz="2000" dirty="0">
                <a:solidFill>
                  <a:schemeClr val="tx1"/>
                </a:solidFill>
              </a:rPr>
              <a:t>   </a:t>
            </a:r>
            <a:endParaRPr lang="en-US" sz="2000" dirty="0">
              <a:solidFill>
                <a:schemeClr val="tx1"/>
              </a:solidFill>
              <a:ea typeface="+mn-lt"/>
              <a:cs typeface="+mn-lt"/>
            </a:endParaRPr>
          </a:p>
          <a:p>
            <a:r>
              <a:rPr lang="en-US" dirty="0">
                <a:solidFill>
                  <a:schemeClr val="tx1"/>
                </a:solidFill>
              </a:rPr>
              <a:t> </a:t>
            </a:r>
          </a:p>
        </p:txBody>
      </p:sp>
      <p:sp>
        <p:nvSpPr>
          <p:cNvPr id="19" name="Text Placeholder 2">
            <a:extLst>
              <a:ext uri="{FF2B5EF4-FFF2-40B4-BE49-F238E27FC236}">
                <a16:creationId xmlns:a16="http://schemas.microsoft.com/office/drawing/2014/main" id="{B1C893BE-813A-FCDD-82D2-4221DE642F12}"/>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653C3FA9-1F4B-7AB2-ED10-CDCFCF8EDD7E}"/>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11</a:t>
            </a:fld>
            <a:endParaRPr lang="en-US">
              <a:solidFill>
                <a:schemeClr val="tx1"/>
              </a:solidFill>
            </a:endParaRPr>
          </a:p>
        </p:txBody>
      </p:sp>
      <p:pic>
        <p:nvPicPr>
          <p:cNvPr id="4" name="圖片 3">
            <a:extLst>
              <a:ext uri="{FF2B5EF4-FFF2-40B4-BE49-F238E27FC236}">
                <a16:creationId xmlns:a16="http://schemas.microsoft.com/office/drawing/2014/main" id="{0358E0F8-5333-DDB3-7EDF-28FC70801A0F}"/>
              </a:ext>
            </a:extLst>
          </p:cNvPr>
          <p:cNvPicPr>
            <a:picLocks noChangeAspect="1"/>
          </p:cNvPicPr>
          <p:nvPr/>
        </p:nvPicPr>
        <p:blipFill>
          <a:blip r:embed="rId4"/>
          <a:srcRect t="30201"/>
          <a:stretch>
            <a:fillRect/>
          </a:stretch>
        </p:blipFill>
        <p:spPr>
          <a:xfrm>
            <a:off x="3280537" y="1718370"/>
            <a:ext cx="5630917" cy="1727356"/>
          </a:xfrm>
          <a:prstGeom prst="rect">
            <a:avLst/>
          </a:prstGeom>
        </p:spPr>
      </p:pic>
      <p:pic>
        <p:nvPicPr>
          <p:cNvPr id="5" name="圖片 4">
            <a:extLst>
              <a:ext uri="{FF2B5EF4-FFF2-40B4-BE49-F238E27FC236}">
                <a16:creationId xmlns:a16="http://schemas.microsoft.com/office/drawing/2014/main" id="{6C9248EB-8B7C-5EFE-8589-FFC79CA5A716}"/>
              </a:ext>
            </a:extLst>
          </p:cNvPr>
          <p:cNvPicPr>
            <a:picLocks noChangeAspect="1"/>
          </p:cNvPicPr>
          <p:nvPr/>
        </p:nvPicPr>
        <p:blipFill>
          <a:blip r:embed="rId5"/>
          <a:stretch>
            <a:fillRect/>
          </a:stretch>
        </p:blipFill>
        <p:spPr>
          <a:xfrm>
            <a:off x="4042538" y="3942427"/>
            <a:ext cx="4106917" cy="2550083"/>
          </a:xfrm>
          <a:prstGeom prst="rect">
            <a:avLst/>
          </a:prstGeom>
        </p:spPr>
      </p:pic>
    </p:spTree>
    <p:extLst>
      <p:ext uri="{BB962C8B-B14F-4D97-AF65-F5344CB8AC3E}">
        <p14:creationId xmlns:p14="http://schemas.microsoft.com/office/powerpoint/2010/main" val="329574468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A601022D-572A-7C1A-92DA-958C157F9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1E789E-A008-420E-D319-E6AFF1E67923}"/>
              </a:ext>
            </a:extLst>
          </p:cNvPr>
          <p:cNvSpPr>
            <a:spLocks noGrp="1"/>
          </p:cNvSpPr>
          <p:nvPr>
            <p:ph type="title"/>
          </p:nvPr>
        </p:nvSpPr>
        <p:spPr>
          <a:xfrm>
            <a:off x="1552574" y="854358"/>
            <a:ext cx="9866540" cy="1358140"/>
          </a:xfrm>
        </p:spPr>
        <p:txBody>
          <a:bodyPr anchor="t">
            <a:normAutofit/>
          </a:bodyPr>
          <a:lstStyle/>
          <a:p>
            <a:r>
              <a:rPr lang="en-US" sz="2000" dirty="0">
                <a:solidFill>
                  <a:schemeClr val="accent2"/>
                </a:solidFill>
              </a:rPr>
              <a:t>Question 3: Does BMI vary significantly across different general health status levels?</a:t>
            </a:r>
          </a:p>
        </p:txBody>
      </p:sp>
      <p:sp>
        <p:nvSpPr>
          <p:cNvPr id="19" name="Text Placeholder 2">
            <a:extLst>
              <a:ext uri="{FF2B5EF4-FFF2-40B4-BE49-F238E27FC236}">
                <a16:creationId xmlns:a16="http://schemas.microsoft.com/office/drawing/2014/main" id="{ED66BE63-4C50-FF83-328D-A70C95790F3F}"/>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21A3A1D0-215C-7D1B-48FE-703D8BE201DC}"/>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12</a:t>
            </a:fld>
            <a:endParaRPr lang="en-US">
              <a:solidFill>
                <a:schemeClr val="tx1"/>
              </a:solidFill>
            </a:endParaRPr>
          </a:p>
        </p:txBody>
      </p:sp>
      <p:pic>
        <p:nvPicPr>
          <p:cNvPr id="9" name="圖片 8">
            <a:extLst>
              <a:ext uri="{FF2B5EF4-FFF2-40B4-BE49-F238E27FC236}">
                <a16:creationId xmlns:a16="http://schemas.microsoft.com/office/drawing/2014/main" id="{0B7E4075-0131-D580-6541-CE722C5E8DF9}"/>
              </a:ext>
            </a:extLst>
          </p:cNvPr>
          <p:cNvPicPr>
            <a:picLocks noChangeAspect="1"/>
          </p:cNvPicPr>
          <p:nvPr/>
        </p:nvPicPr>
        <p:blipFill>
          <a:blip r:embed="rId4"/>
          <a:stretch>
            <a:fillRect/>
          </a:stretch>
        </p:blipFill>
        <p:spPr>
          <a:xfrm>
            <a:off x="3416519" y="3252214"/>
            <a:ext cx="5358962" cy="3469261"/>
          </a:xfrm>
          <a:prstGeom prst="rect">
            <a:avLst/>
          </a:prstGeom>
        </p:spPr>
      </p:pic>
      <p:pic>
        <p:nvPicPr>
          <p:cNvPr id="10" name="圖片 9">
            <a:extLst>
              <a:ext uri="{FF2B5EF4-FFF2-40B4-BE49-F238E27FC236}">
                <a16:creationId xmlns:a16="http://schemas.microsoft.com/office/drawing/2014/main" id="{32ACE664-C463-2334-53E4-264723FB6620}"/>
              </a:ext>
            </a:extLst>
          </p:cNvPr>
          <p:cNvPicPr>
            <a:picLocks noChangeAspect="1"/>
          </p:cNvPicPr>
          <p:nvPr/>
        </p:nvPicPr>
        <p:blipFill>
          <a:blip r:embed="rId5"/>
          <a:stretch>
            <a:fillRect/>
          </a:stretch>
        </p:blipFill>
        <p:spPr>
          <a:xfrm>
            <a:off x="2209800" y="1550006"/>
            <a:ext cx="7772400" cy="1484353"/>
          </a:xfrm>
          <a:prstGeom prst="rect">
            <a:avLst/>
          </a:prstGeom>
        </p:spPr>
      </p:pic>
    </p:spTree>
    <p:extLst>
      <p:ext uri="{BB962C8B-B14F-4D97-AF65-F5344CB8AC3E}">
        <p14:creationId xmlns:p14="http://schemas.microsoft.com/office/powerpoint/2010/main" val="1040146622"/>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EAC2E21-6C9E-4953-B38C-70CD2ACD1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C7CBC-A8AB-2F9A-6201-453D5BE862B4}"/>
              </a:ext>
            </a:extLst>
          </p:cNvPr>
          <p:cNvSpPr>
            <a:spLocks noGrp="1"/>
          </p:cNvSpPr>
          <p:nvPr>
            <p:ph type="title"/>
          </p:nvPr>
        </p:nvSpPr>
        <p:spPr/>
        <p:txBody>
          <a:bodyPr anchor="t">
            <a:normAutofit/>
          </a:bodyPr>
          <a:lstStyle/>
          <a:p>
            <a:r>
              <a:rPr lang="en-US" sz="2000" dirty="0">
                <a:solidFill>
                  <a:schemeClr val="accent2"/>
                </a:solidFill>
              </a:rPr>
              <a:t>Question 4: Does exercise participation vary significantly across different BMI categories, suggesting a role in weight management?</a:t>
            </a:r>
          </a:p>
        </p:txBody>
      </p:sp>
      <p:sp>
        <p:nvSpPr>
          <p:cNvPr id="19" name="Text Placeholder 2">
            <a:extLst>
              <a:ext uri="{FF2B5EF4-FFF2-40B4-BE49-F238E27FC236}">
                <a16:creationId xmlns:a16="http://schemas.microsoft.com/office/drawing/2014/main" id="{4B0CA373-EA74-00EC-D773-19723F83603D}"/>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6163A98D-143E-7172-EF35-4E04FA8AF3BA}"/>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13</a:t>
            </a:fld>
            <a:endParaRPr lang="en-US">
              <a:solidFill>
                <a:schemeClr val="tx1"/>
              </a:solidFill>
            </a:endParaRPr>
          </a:p>
        </p:txBody>
      </p:sp>
      <p:pic>
        <p:nvPicPr>
          <p:cNvPr id="7" name="圖片 6">
            <a:extLst>
              <a:ext uri="{FF2B5EF4-FFF2-40B4-BE49-F238E27FC236}">
                <a16:creationId xmlns:a16="http://schemas.microsoft.com/office/drawing/2014/main" id="{0D99A04E-84CC-2620-F66B-B858E5D326D6}"/>
              </a:ext>
            </a:extLst>
          </p:cNvPr>
          <p:cNvPicPr>
            <a:picLocks noChangeAspect="1"/>
          </p:cNvPicPr>
          <p:nvPr/>
        </p:nvPicPr>
        <p:blipFill>
          <a:blip r:embed="rId4"/>
          <a:stretch>
            <a:fillRect/>
          </a:stretch>
        </p:blipFill>
        <p:spPr>
          <a:xfrm>
            <a:off x="4464692" y="1671145"/>
            <a:ext cx="3262616" cy="1905807"/>
          </a:xfrm>
          <a:prstGeom prst="rect">
            <a:avLst/>
          </a:prstGeom>
        </p:spPr>
      </p:pic>
      <p:pic>
        <p:nvPicPr>
          <p:cNvPr id="8" name="圖片 7">
            <a:extLst>
              <a:ext uri="{FF2B5EF4-FFF2-40B4-BE49-F238E27FC236}">
                <a16:creationId xmlns:a16="http://schemas.microsoft.com/office/drawing/2014/main" id="{B21D865E-62FA-6B57-3E27-1C10CBCB3393}"/>
              </a:ext>
            </a:extLst>
          </p:cNvPr>
          <p:cNvPicPr>
            <a:picLocks noChangeAspect="1"/>
          </p:cNvPicPr>
          <p:nvPr/>
        </p:nvPicPr>
        <p:blipFill>
          <a:blip r:embed="rId5"/>
          <a:stretch>
            <a:fillRect/>
          </a:stretch>
        </p:blipFill>
        <p:spPr>
          <a:xfrm>
            <a:off x="4233572" y="3869382"/>
            <a:ext cx="4504543" cy="2852093"/>
          </a:xfrm>
          <a:prstGeom prst="rect">
            <a:avLst/>
          </a:prstGeom>
        </p:spPr>
      </p:pic>
    </p:spTree>
    <p:extLst>
      <p:ext uri="{BB962C8B-B14F-4D97-AF65-F5344CB8AC3E}">
        <p14:creationId xmlns:p14="http://schemas.microsoft.com/office/powerpoint/2010/main" val="539761489"/>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9D4099D7-CA7D-02F0-FA93-8909C6B10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329FD-A98A-8EDD-2C3F-25A915F232B6}"/>
              </a:ext>
            </a:extLst>
          </p:cNvPr>
          <p:cNvSpPr>
            <a:spLocks noGrp="1"/>
          </p:cNvSpPr>
          <p:nvPr>
            <p:ph type="title"/>
          </p:nvPr>
        </p:nvSpPr>
        <p:spPr>
          <a:xfrm>
            <a:off x="1552574" y="854358"/>
            <a:ext cx="9866540" cy="1358140"/>
          </a:xfrm>
        </p:spPr>
        <p:txBody>
          <a:bodyPr anchor="t">
            <a:normAutofit/>
          </a:bodyPr>
          <a:lstStyle/>
          <a:p>
            <a:r>
              <a:rPr lang="en-US" sz="2000" dirty="0">
                <a:solidFill>
                  <a:schemeClr val="accent2"/>
                </a:solidFill>
              </a:rPr>
              <a:t>Question 5: Is diabetes status associated with coronary heart disease?</a:t>
            </a:r>
          </a:p>
        </p:txBody>
      </p:sp>
      <p:sp>
        <p:nvSpPr>
          <p:cNvPr id="19" name="Text Placeholder 2">
            <a:extLst>
              <a:ext uri="{FF2B5EF4-FFF2-40B4-BE49-F238E27FC236}">
                <a16:creationId xmlns:a16="http://schemas.microsoft.com/office/drawing/2014/main" id="{C46C2D0D-14CF-8A6A-74C1-6443AD3DFA18}"/>
              </a:ext>
            </a:extLst>
          </p:cNvPr>
          <p:cNvSpPr>
            <a:spLocks noGrp="1"/>
          </p:cNvSpPr>
          <p:nvPr>
            <p:ph type="body" sz="quarter" idx="14"/>
          </p:nvPr>
        </p:nvSpPr>
        <p:spPr/>
        <p:txBody>
          <a:bodyPr vert="horz" lIns="91440" tIns="45720" rIns="91440" bIns="45720" rtlCol="0">
            <a:normAutofit/>
          </a:bodyPr>
          <a:lstStyle/>
          <a:p>
            <a:pPr marL="0" indent="0">
              <a:buNone/>
            </a:pPr>
            <a:endParaRPr lang="en-US" b="1"/>
          </a:p>
          <a:p>
            <a:pPr marL="0" indent="0">
              <a:buNone/>
            </a:pPr>
            <a:endParaRPr lang="en-US"/>
          </a:p>
        </p:txBody>
      </p:sp>
      <p:sp>
        <p:nvSpPr>
          <p:cNvPr id="6" name="Slide Number Placeholder 5">
            <a:extLst>
              <a:ext uri="{FF2B5EF4-FFF2-40B4-BE49-F238E27FC236}">
                <a16:creationId xmlns:a16="http://schemas.microsoft.com/office/drawing/2014/main" id="{C9B986D9-E9FB-3273-F967-B87382E5AA42}"/>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dirty="0" smtClean="0">
                <a:solidFill>
                  <a:schemeClr val="tx1"/>
                </a:solidFill>
              </a:rPr>
              <a:pPr>
                <a:spcAft>
                  <a:spcPts val="600"/>
                </a:spcAft>
              </a:pPr>
              <a:t>14</a:t>
            </a:fld>
            <a:endParaRPr lang="en-US">
              <a:solidFill>
                <a:schemeClr val="tx1"/>
              </a:solidFill>
            </a:endParaRPr>
          </a:p>
        </p:txBody>
      </p:sp>
      <p:sp>
        <p:nvSpPr>
          <p:cNvPr id="7" name="文字方塊 6">
            <a:extLst>
              <a:ext uri="{FF2B5EF4-FFF2-40B4-BE49-F238E27FC236}">
                <a16:creationId xmlns:a16="http://schemas.microsoft.com/office/drawing/2014/main" id="{C21CC7E9-8D3C-C491-F5C8-300C565E2197}"/>
              </a:ext>
            </a:extLst>
          </p:cNvPr>
          <p:cNvSpPr txBox="1"/>
          <p:nvPr/>
        </p:nvSpPr>
        <p:spPr>
          <a:xfrm>
            <a:off x="420414" y="3310759"/>
            <a:ext cx="184731" cy="369332"/>
          </a:xfrm>
          <a:prstGeom prst="rect">
            <a:avLst/>
          </a:prstGeom>
          <a:noFill/>
        </p:spPr>
        <p:txBody>
          <a:bodyPr wrap="none" rtlCol="0">
            <a:spAutoFit/>
          </a:bodyPr>
          <a:lstStyle/>
          <a:p>
            <a:endParaRPr kumimoji="1" lang="zh-TW" altLang="en-US" dirty="0"/>
          </a:p>
        </p:txBody>
      </p:sp>
      <p:pic>
        <p:nvPicPr>
          <p:cNvPr id="10" name="圖片 9">
            <a:extLst>
              <a:ext uri="{FF2B5EF4-FFF2-40B4-BE49-F238E27FC236}">
                <a16:creationId xmlns:a16="http://schemas.microsoft.com/office/drawing/2014/main" id="{3F1CEAD6-5438-ECB8-94AF-68E6917DA543}"/>
              </a:ext>
            </a:extLst>
          </p:cNvPr>
          <p:cNvPicPr>
            <a:picLocks noChangeAspect="1"/>
          </p:cNvPicPr>
          <p:nvPr/>
        </p:nvPicPr>
        <p:blipFill>
          <a:blip r:embed="rId4"/>
          <a:stretch>
            <a:fillRect/>
          </a:stretch>
        </p:blipFill>
        <p:spPr>
          <a:xfrm>
            <a:off x="3327838" y="1756873"/>
            <a:ext cx="5536324" cy="1923218"/>
          </a:xfrm>
          <a:prstGeom prst="rect">
            <a:avLst/>
          </a:prstGeom>
        </p:spPr>
      </p:pic>
      <p:pic>
        <p:nvPicPr>
          <p:cNvPr id="11" name="圖片 10">
            <a:extLst>
              <a:ext uri="{FF2B5EF4-FFF2-40B4-BE49-F238E27FC236}">
                <a16:creationId xmlns:a16="http://schemas.microsoft.com/office/drawing/2014/main" id="{856CDD25-10E9-D689-B219-6E246828BD9C}"/>
              </a:ext>
            </a:extLst>
          </p:cNvPr>
          <p:cNvPicPr>
            <a:picLocks noChangeAspect="1"/>
          </p:cNvPicPr>
          <p:nvPr/>
        </p:nvPicPr>
        <p:blipFill>
          <a:blip r:embed="rId5"/>
          <a:stretch>
            <a:fillRect/>
          </a:stretch>
        </p:blipFill>
        <p:spPr>
          <a:xfrm>
            <a:off x="3670390" y="3761418"/>
            <a:ext cx="4851220" cy="2972038"/>
          </a:xfrm>
          <a:prstGeom prst="rect">
            <a:avLst/>
          </a:prstGeom>
        </p:spPr>
      </p:pic>
    </p:spTree>
    <p:extLst>
      <p:ext uri="{BB962C8B-B14F-4D97-AF65-F5344CB8AC3E}">
        <p14:creationId xmlns:p14="http://schemas.microsoft.com/office/powerpoint/2010/main" val="2120106944"/>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0E3"/>
        </a:solidFill>
        <a:effectLst/>
      </p:bgPr>
    </p:bg>
    <p:spTree>
      <p:nvGrpSpPr>
        <p:cNvPr id="1" name="">
          <a:extLst>
            <a:ext uri="{FF2B5EF4-FFF2-40B4-BE49-F238E27FC236}">
              <a16:creationId xmlns:a16="http://schemas.microsoft.com/office/drawing/2014/main" id="{09508D22-39DD-6ED2-1790-07F8B00E9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C0C8D-6E98-A606-B1E6-9FBF83BD168A}"/>
              </a:ext>
            </a:extLst>
          </p:cNvPr>
          <p:cNvSpPr>
            <a:spLocks noGrp="1"/>
          </p:cNvSpPr>
          <p:nvPr>
            <p:ph type="title"/>
          </p:nvPr>
        </p:nvSpPr>
        <p:spPr>
          <a:xfrm>
            <a:off x="1552574" y="854358"/>
            <a:ext cx="9866540" cy="1358140"/>
          </a:xfrm>
        </p:spPr>
        <p:txBody>
          <a:bodyPr anchor="t">
            <a:normAutofit/>
          </a:bodyPr>
          <a:lstStyle/>
          <a:p>
            <a:r>
              <a:rPr lang="en-US">
                <a:solidFill>
                  <a:schemeClr val="accent2"/>
                </a:solidFill>
              </a:rPr>
              <a:t>Conclusion</a:t>
            </a:r>
            <a:endParaRPr lang="en-US" dirty="0">
              <a:solidFill>
                <a:schemeClr val="accent2"/>
              </a:solidFill>
            </a:endParaRPr>
          </a:p>
        </p:txBody>
      </p:sp>
      <p:sp>
        <p:nvSpPr>
          <p:cNvPr id="19" name="Text Placeholder 2">
            <a:extLst>
              <a:ext uri="{FF2B5EF4-FFF2-40B4-BE49-F238E27FC236}">
                <a16:creationId xmlns:a16="http://schemas.microsoft.com/office/drawing/2014/main" id="{44321EB9-DAE3-1BCF-783F-3D896BDB30B6}"/>
              </a:ext>
            </a:extLst>
          </p:cNvPr>
          <p:cNvSpPr>
            <a:spLocks noGrp="1"/>
          </p:cNvSpPr>
          <p:nvPr>
            <p:ph type="body" sz="quarter" idx="14"/>
          </p:nvPr>
        </p:nvSpPr>
        <p:spPr>
          <a:xfrm>
            <a:off x="1552575" y="1808922"/>
            <a:ext cx="9866540" cy="4432218"/>
          </a:xfrm>
        </p:spPr>
        <p:txBody>
          <a:bodyPr vert="horz" lIns="91440" tIns="45720" rIns="91440" bIns="45720" rtlCol="0">
            <a:normAutofit/>
          </a:bodyPr>
          <a:lstStyle/>
          <a:p>
            <a:pPr marL="0" indent="0">
              <a:buNone/>
            </a:pPr>
            <a:r>
              <a:rPr lang="en-US" b="1" dirty="0">
                <a:solidFill>
                  <a:schemeClr val="tx1"/>
                </a:solidFill>
              </a:rPr>
              <a:t>Key Findings:</a:t>
            </a:r>
          </a:p>
          <a:p>
            <a:pPr marL="0" indent="0">
              <a:buNone/>
            </a:pPr>
            <a:r>
              <a:rPr lang="en-US" b="1" dirty="0">
                <a:solidFill>
                  <a:schemeClr val="tx1"/>
                </a:solidFill>
              </a:rPr>
              <a:t>- Strong correlations between CHD and factors like Age, BMI, Smoking, and Diabetes.</a:t>
            </a:r>
          </a:p>
          <a:p>
            <a:pPr marL="0" indent="0">
              <a:buNone/>
            </a:pPr>
            <a:r>
              <a:rPr lang="en-US" b="1" dirty="0">
                <a:solidFill>
                  <a:schemeClr val="tx1"/>
                </a:solidFill>
              </a:rPr>
              <a:t>- Data insights align with World Bank and CDC data.</a:t>
            </a:r>
          </a:p>
          <a:p>
            <a:pPr marL="0" indent="0">
              <a:buNone/>
            </a:pPr>
            <a:endParaRPr lang="en-US" b="1" dirty="0">
              <a:solidFill>
                <a:schemeClr val="tx1"/>
              </a:solidFill>
            </a:endParaRPr>
          </a:p>
          <a:p>
            <a:pPr marL="0" indent="0">
              <a:buNone/>
            </a:pPr>
            <a:r>
              <a:rPr lang="en-US" b="1" dirty="0">
                <a:solidFill>
                  <a:schemeClr val="tx1"/>
                </a:solidFill>
              </a:rPr>
              <a:t>Future Work:</a:t>
            </a:r>
          </a:p>
          <a:p>
            <a:pPr marL="0" indent="0">
              <a:buNone/>
            </a:pPr>
            <a:r>
              <a:rPr lang="en-US" b="1" dirty="0">
                <a:solidFill>
                  <a:schemeClr val="tx1"/>
                </a:solidFill>
              </a:rPr>
              <a:t>- Expand dataset and analyze additional lifestyle factors.</a:t>
            </a:r>
          </a:p>
        </p:txBody>
      </p:sp>
      <p:sp>
        <p:nvSpPr>
          <p:cNvPr id="6" name="Slide Number Placeholder 5">
            <a:extLst>
              <a:ext uri="{FF2B5EF4-FFF2-40B4-BE49-F238E27FC236}">
                <a16:creationId xmlns:a16="http://schemas.microsoft.com/office/drawing/2014/main" id="{003E3403-61AC-3C41-B8ED-6742550B6E67}"/>
              </a:ext>
            </a:extLst>
          </p:cNvPr>
          <p:cNvSpPr>
            <a:spLocks noGrp="1"/>
          </p:cNvSpPr>
          <p:nvPr>
            <p:ph type="sldNum" sz="quarter" idx="12"/>
          </p:nvPr>
        </p:nvSpPr>
        <p:spPr/>
        <p:txBody>
          <a:bodyPr anchor="ctr">
            <a:normAutofit/>
          </a:bodyPr>
          <a:lstStyle/>
          <a:p>
            <a:pPr>
              <a:spcAft>
                <a:spcPts val="600"/>
              </a:spcAft>
            </a:pPr>
            <a:fld id="{B5CEABB6-07DC-46E8-9B57-56EC44A396E5}" type="slidenum">
              <a:rPr lang="en-US" smtClean="0">
                <a:solidFill>
                  <a:schemeClr val="tx1"/>
                </a:solidFill>
              </a:rPr>
              <a:pPr>
                <a:spcAft>
                  <a:spcPts val="600"/>
                </a:spcAft>
              </a:pPr>
              <a:t>15</a:t>
            </a:fld>
            <a:endParaRPr lang="en-US">
              <a:solidFill>
                <a:schemeClr val="tx1"/>
              </a:solidFill>
            </a:endParaRPr>
          </a:p>
        </p:txBody>
      </p:sp>
      <p:sp>
        <p:nvSpPr>
          <p:cNvPr id="7" name="文字方塊 6">
            <a:extLst>
              <a:ext uri="{FF2B5EF4-FFF2-40B4-BE49-F238E27FC236}">
                <a16:creationId xmlns:a16="http://schemas.microsoft.com/office/drawing/2014/main" id="{461BE631-3309-CEFC-4B29-0473B96E0F20}"/>
              </a:ext>
            </a:extLst>
          </p:cNvPr>
          <p:cNvSpPr txBox="1"/>
          <p:nvPr/>
        </p:nvSpPr>
        <p:spPr>
          <a:xfrm>
            <a:off x="420414" y="3310759"/>
            <a:ext cx="184731" cy="369332"/>
          </a:xfrm>
          <a:prstGeom prst="rect">
            <a:avLst/>
          </a:prstGeom>
          <a:noFill/>
        </p:spPr>
        <p:txBody>
          <a:bodyPr wrap="none" rtlCol="0">
            <a:spAutoFit/>
          </a:bodyPr>
          <a:lstStyle/>
          <a:p>
            <a:endParaRPr kumimoji="1" lang="zh-TW" altLang="en-US" dirty="0"/>
          </a:p>
        </p:txBody>
      </p:sp>
    </p:spTree>
    <p:extLst>
      <p:ext uri="{BB962C8B-B14F-4D97-AF65-F5344CB8AC3E}">
        <p14:creationId xmlns:p14="http://schemas.microsoft.com/office/powerpoint/2010/main" val="2591808751"/>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2.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3.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4.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5.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6.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7.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8.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9.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10.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theme/themeOverride11.xml><?xml version="1.0" encoding="utf-8"?>
<a:themeOverride xmlns:a="http://schemas.openxmlformats.org/drawingml/2006/main">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6916C7-CF68-49BE-86B9-A47B40A856AE}">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F1950151-0FE0-482F-ADBD-EE52BFC46C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D375C2-2973-4C8B-9800-5B5271D300BD}">
  <ds:schemaRefs>
    <ds:schemaRef ds:uri="http://schemas.microsoft.com/sharepoint/v3/contenttype/forms"/>
  </ds:schemaRefs>
</ds:datastoreItem>
</file>

<file path=customXml/itemProps3.xml><?xml version="1.0" encoding="utf-8"?>
<ds:datastoreItem xmlns:ds="http://schemas.openxmlformats.org/officeDocument/2006/customXml" ds:itemID="{559B7A9F-83D5-4264-91C0-B309A9EDBFB6}">
  <ds:schemaRefs>
    <ds:schemaRef ds:uri="http://purl.org/dc/elements/1.1/"/>
    <ds:schemaRef ds:uri="http://schemas.microsoft.com/office/2006/documentManagement/types"/>
    <ds:schemaRef ds:uri="16c05727-aa75-4e4a-9b5f-8a80a1165891"/>
    <ds:schemaRef ds:uri="http://schemas.microsoft.com/office/infopath/2007/PartnerControls"/>
    <ds:schemaRef ds:uri="230e9df3-be65-4c73-a93b-d1236ebd677e"/>
    <ds:schemaRef ds:uri="http://purl.org/dc/dcmitype/"/>
    <ds:schemaRef ds:uri="http://schemas.microsoft.com/office/2006/metadata/properties"/>
    <ds:schemaRef ds:uri="http://schemas.openxmlformats.org/package/2006/metadata/core-properties"/>
    <ds:schemaRef ds:uri="http://purl.org/dc/terms/"/>
    <ds:schemaRef ds:uri="71af3243-3dd4-4a8d-8c0d-dd76da1f02a5"/>
    <ds:schemaRef ds:uri="http://schemas.microsoft.com/sharepoint/v3"/>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5409</TotalTime>
  <Words>982</Words>
  <Application>Microsoft Office PowerPoint</Application>
  <PresentationFormat>Widescreen</PresentationFormat>
  <Paragraphs>130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Avenir Next LT Pro</vt:lpstr>
      <vt:lpstr>Calibri</vt:lpstr>
      <vt:lpstr>Custom</vt:lpstr>
      <vt:lpstr>Factors linked to the Diagnosis on Coronary Heart Disease</vt:lpstr>
      <vt:lpstr>Source links</vt:lpstr>
      <vt:lpstr>Agenda</vt:lpstr>
      <vt:lpstr>Introduction</vt:lpstr>
      <vt:lpstr>Project workflow process diagram</vt:lpstr>
      <vt:lpstr>Dataset overview</vt:lpstr>
      <vt:lpstr>summary</vt:lpstr>
      <vt:lpstr>proposal</vt:lpstr>
      <vt:lpstr>Smart questions</vt:lpstr>
      <vt:lpstr>Question 1: Is there a significant difference in BMI between people with and without coronary heart disease?</vt:lpstr>
      <vt:lpstr>Question 2: Is smoking status associated with coronary heart disease?</vt:lpstr>
      <vt:lpstr>Question 3: Does BMI vary significantly across different general health status levels?</vt:lpstr>
      <vt:lpstr>Question 4: Does exercise participation vary significantly across different BMI categories, suggesting a role in weight management?</vt:lpstr>
      <vt:lpstr>Question 5: Is diabetes status associated with coronary heart disease?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Aditya Karande</cp:lastModifiedBy>
  <cp:revision>318</cp:revision>
  <dcterms:created xsi:type="dcterms:W3CDTF">2025-10-11T16:45:44Z</dcterms:created>
  <dcterms:modified xsi:type="dcterms:W3CDTF">2025-10-20T20:17:49Z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